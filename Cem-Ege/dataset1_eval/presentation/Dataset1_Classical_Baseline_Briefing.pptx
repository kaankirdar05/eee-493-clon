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d me first (Umut)" id="{0c9ad5c5-70b6-42bd-ee4e-1799ff72be06}">
          <p14:sldIdLst>
            <p14:sldId id="256"/>
          </p14:sldIdLst>
        </p14:section>
        <p14:section name="The talk" id="{dc4d76d6-a835-57c7-e52e-4559fa04673b}">
          <p14:sldIdLst>
            <p14:sldId id="257"/>
            <p14:sldId id="258"/>
            <p14:sldId id="259"/>
            <p14:sldId id="260"/>
            <p14:sldId id="261"/>
            <p14:sldId id="262"/>
            <p14:sldId id="263"/>
            <p14:sldId id="264"/>
            <p14:sldId id="265"/>
            <p14:sldId id="266"/>
            <p14:sldId id="267"/>
            <p14:sldId id="268"/>
            <p14:sldId id="269"/>
            <p14:sldId id="270"/>
            <p14:sldId id="271"/>
          </p14:sldIdLst>
        </p14:section>
        <p14:section name="Backup and reference" id="{25cf8998-edf0-f23b-0efc-e9125fa4402c}">
          <p14:sldIdLst>
            <p14:sldId id="272"/>
            <p14:sldId id="273"/>
            <p14:sldId id="274"/>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Accuracy at SNR ≥ 10 dB, 14 classes, 19 features (%)</a:t>
            </a:r>
          </a:p>
        </c:rich>
      </c:tx>
      <c:layout/>
      <c:overlay val="0"/>
    </c:title>
    <c:autoTitleDeleted val="0"/>
    <c:plotArea>
      <c:layout/>
      <c:barChart>
        <c:barDir val="bar"/>
        <c:grouping val="clustered"/>
        <c:varyColors val="0"/>
        <c:ser>
          <c:idx val="0"/>
          <c:order val="0"/>
          <c:tx>
            <c:strRef>
              <c:f>Sheet1!$B$1</c:f>
              <c:strCache>
                <c:ptCount val="1"/>
                <c:pt idx="0">
                  <c:v>Accuracy at SNR ≥ 10 dB (%)</c:v>
                </c:pt>
              </c:strCache>
            </c:strRef>
          </c:tx>
          <c:spPr>
            <a:solidFill>
              <a:srgbClr val="0E7C86"/>
            </a:solidFill>
            <a:effectLst/>
          </c:spPr>
          <c:invertIfNegative val="0"/>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Sheet1!$A$2:$A$9</c:f>
              <c:multiLvlStrCache>
                <c:ptCount val="8"/>
                <c:lvl>
                  <c:pt idx="0">
                    <c:v>Cumulant theory*</c:v>
                  </c:pt>
                  <c:pt idx="1">
                    <c:v>Nearest centroid</c:v>
                  </c:pt>
                  <c:pt idx="2">
                    <c:v>Decision tree</c:v>
                  </c:pt>
                  <c:pt idx="3">
                    <c:v>LDA</c:v>
                  </c:pt>
                  <c:pt idx="4">
                    <c:v>k-NN</c:v>
                  </c:pt>
                  <c:pt idx="5">
                    <c:v>Random forest</c:v>
                  </c:pt>
                  <c:pt idx="6">
                    <c:v>Boosted trees</c:v>
                  </c:pt>
                  <c:pt idx="7">
                    <c:v>SVM (RBF)</c:v>
                  </c:pt>
                </c:lvl>
              </c:multiLvlStrCache>
            </c:multiLvlStrRef>
          </c:cat>
          <c:val>
            <c:numRef>
              <c:f>Sheet1!$B$2:$B$9</c:f>
              <c:numCache>
                <c:formatCode>General</c:formatCode>
                <c:ptCount val="8"/>
                <c:pt idx="0">
                  <c:v>34.4</c:v>
                </c:pt>
                <c:pt idx="1">
                  <c:v>37.2</c:v>
                </c:pt>
                <c:pt idx="2">
                  <c:v>52.2</c:v>
                </c:pt>
                <c:pt idx="3">
                  <c:v>66</c:v>
                </c:pt>
                <c:pt idx="4">
                  <c:v>74.9</c:v>
                </c:pt>
                <c:pt idx="5">
                  <c:v>77.8</c:v>
                </c:pt>
                <c:pt idx="6">
                  <c:v>78.7</c:v>
                </c:pt>
                <c:pt idx="7">
                  <c:v>79</c:v>
                </c:pt>
              </c:numCache>
            </c:numRef>
          </c:val>
        </c:ser>
        <c:dLbls>
          <c:numFmt formatCode="0.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D9E2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Accuracy vs SNR, 13 signal classes, boosted trees (%)</a:t>
            </a:r>
          </a:p>
        </c:rich>
      </c:tx>
      <c:layout/>
      <c:overlay val="0"/>
    </c:title>
    <c:autoTitleDeleted val="0"/>
    <c:plotArea>
      <c:layout/>
      <c:lineChart>
        <c:varyColors val="0"/>
        <c:ser>
          <c:idx val="0"/>
          <c:order val="0"/>
          <c:tx>
            <c:strRef>
              <c:f>Sheet1!$B$1</c:f>
              <c:strCache>
                <c:ptCount val="1"/>
                <c:pt idx="0">
                  <c:v>19 features + 24 Haar wavelet</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0E7C86"/>
              </a:solidFill>
              <a:ln w="9525" cap="flat">
                <a:solidFill>
                  <a:srgbClr val="0E7C86"/>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Sheet1!$B$2:$B$17</c:f>
              <c:numCache>
                <c:formatCode>General</c:formatCode>
                <c:ptCount val="16"/>
                <c:pt idx="0">
                  <c:v>5.8</c:v>
                </c:pt>
                <c:pt idx="1">
                  <c:v>11.1</c:v>
                </c:pt>
                <c:pt idx="2">
                  <c:v>17.1</c:v>
                </c:pt>
                <c:pt idx="3">
                  <c:v>23.2</c:v>
                </c:pt>
                <c:pt idx="4">
                  <c:v>31.2</c:v>
                </c:pt>
                <c:pt idx="5">
                  <c:v>40.5</c:v>
                </c:pt>
                <c:pt idx="6">
                  <c:v>48.2</c:v>
                </c:pt>
                <c:pt idx="7">
                  <c:v>56.1</c:v>
                </c:pt>
                <c:pt idx="8">
                  <c:v>65.3</c:v>
                </c:pt>
                <c:pt idx="9">
                  <c:v>71.9</c:v>
                </c:pt>
                <c:pt idx="10">
                  <c:v>79.3</c:v>
                </c:pt>
                <c:pt idx="11">
                  <c:v>85.7</c:v>
                </c:pt>
                <c:pt idx="12">
                  <c:v>91</c:v>
                </c:pt>
                <c:pt idx="13">
                  <c:v>94.2</c:v>
                </c:pt>
                <c:pt idx="14">
                  <c:v>94.7</c:v>
                </c:pt>
                <c:pt idx="15">
                  <c:v>96.1</c:v>
                </c:pt>
              </c:numCache>
            </c:numRef>
          </c:val>
          <c:smooth val="0"/>
        </c:ser>
        <c:ser>
          <c:idx val="1"/>
          <c:order val="1"/>
          <c:tx>
            <c:strRef>
              <c:f>Sheet1!$C$1</c:f>
              <c:strCache>
                <c:ptCount val="1"/>
                <c:pt idx="0">
                  <c:v>19 features</c:v>
                </c:pt>
              </c:strCache>
            </c:strRef>
          </c:tx>
          <c:spPr>
            <a:solidFill>
              <a:srgbClr val="8A97A3"/>
            </a:solidFill>
            <a:ln w="31750" cap="flat">
              <a:solidFill>
                <a:srgbClr val="8A97A3"/>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8A97A3"/>
              </a:solidFill>
              <a:ln w="9525" cap="flat">
                <a:solidFill>
                  <a:srgbClr val="8A97A3"/>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Sheet1!$C$2:$C$17</c:f>
              <c:numCache>
                <c:formatCode>General</c:formatCode>
                <c:ptCount val="16"/>
                <c:pt idx="0">
                  <c:v>3.6</c:v>
                </c:pt>
                <c:pt idx="1">
                  <c:v>5.7</c:v>
                </c:pt>
                <c:pt idx="2">
                  <c:v>8.9</c:v>
                </c:pt>
                <c:pt idx="3">
                  <c:v>13.7</c:v>
                </c:pt>
                <c:pt idx="4">
                  <c:v>17.4</c:v>
                </c:pt>
                <c:pt idx="5">
                  <c:v>24.9</c:v>
                </c:pt>
                <c:pt idx="6">
                  <c:v>31</c:v>
                </c:pt>
                <c:pt idx="7">
                  <c:v>39.3</c:v>
                </c:pt>
                <c:pt idx="8">
                  <c:v>47.6</c:v>
                </c:pt>
                <c:pt idx="9">
                  <c:v>54.3</c:v>
                </c:pt>
                <c:pt idx="10">
                  <c:v>62.4</c:v>
                </c:pt>
                <c:pt idx="11">
                  <c:v>70.7</c:v>
                </c:pt>
                <c:pt idx="12">
                  <c:v>77.5</c:v>
                </c:pt>
                <c:pt idx="13">
                  <c:v>85</c:v>
                </c:pt>
                <c:pt idx="14">
                  <c:v>87.3</c:v>
                </c:pt>
                <c:pt idx="15">
                  <c:v>89.7</c:v>
                </c:pt>
              </c:numCache>
            </c:numRef>
          </c:val>
          <c:smooth val="0"/>
        </c:ser>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B1F24"/>
                    </a:solidFill>
                    <a:latin typeface="+mn-lt"/>
                  </a:defRPr>
                </a:pPr>
                <a:r>
                  <a:rPr sz="1100" b="0" i="0" u="none" strike="noStrike">
                    <a:solidFill>
                      <a:srgbClr val="1B1F24"/>
                    </a:solidFill>
                    <a:latin typeface="+mn-lt"/>
                  </a:rPr>
                  <a:t>SNR label Z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19 features: % of a class called the wrong class</a:t>
            </a:r>
          </a:p>
        </c:rich>
      </c:tx>
      <c:layout/>
      <c:overlay val="0"/>
    </c:title>
    <c:autoTitleDeleted val="0"/>
    <c:plotArea>
      <c:layout/>
      <c:barChart>
        <c:barDir val="bar"/>
        <c:grouping val="clustered"/>
        <c:varyColors val="0"/>
        <c:ser>
          <c:idx val="0"/>
          <c:order val="0"/>
          <c:tx>
            <c:strRef>
              <c:f>Sheet1!$B$1</c:f>
              <c:strCache>
                <c:ptCount val="1"/>
                <c:pt idx="0">
                  <c:v>19 features: % of a class called the wrong class</c:v>
                </c:pt>
              </c:strCache>
            </c:strRef>
          </c:tx>
          <c:spPr>
            <a:solidFill>
              <a:srgbClr val="8A97A3"/>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Sheet1!$A$2:$A$7</c:f>
              <c:multiLvlStrCache>
                <c:ptCount val="6"/>
                <c:lvl>
                  <c:pt idx="0">
                    <c:v>WBFM → 4FSK</c:v>
                  </c:pt>
                  <c:pt idx="1">
                    <c:v>NBFM → 4FSK</c:v>
                  </c:pt>
                  <c:pt idx="2">
                    <c:v>4FSK → NBFM</c:v>
                  </c:pt>
                  <c:pt idx="3">
                    <c:v>QPSK → PI4DQPSK</c:v>
                  </c:pt>
                  <c:pt idx="4">
                    <c:v>NBFM → WBFM</c:v>
                  </c:pt>
                  <c:pt idx="5">
                    <c:v>WBFM → NBFM</c:v>
                  </c:pt>
                </c:lvl>
              </c:multiLvlStrCache>
            </c:multiLvlStrRef>
          </c:cat>
          <c:val>
            <c:numRef>
              <c:f>Sheet1!$B$2:$B$7</c:f>
              <c:numCache>
                <c:formatCode>General</c:formatCode>
                <c:ptCount val="6"/>
                <c:pt idx="0">
                  <c:v>18</c:v>
                </c:pt>
                <c:pt idx="1">
                  <c:v>18</c:v>
                </c:pt>
                <c:pt idx="2">
                  <c:v>18</c:v>
                </c:pt>
                <c:pt idx="3">
                  <c:v>20</c:v>
                </c:pt>
                <c:pt idx="4">
                  <c:v>23</c:v>
                </c:pt>
                <c:pt idx="5">
                  <c:v>27</c:v>
                </c:pt>
              </c:numCache>
            </c:numRef>
          </c:val>
        </c:ser>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9525" cap="flat">
              <a:solidFill>
                <a:srgbClr val="D9E2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19 + wavelet features: same measure</a:t>
            </a:r>
          </a:p>
        </c:rich>
      </c:tx>
      <c:layout/>
      <c:overlay val="0"/>
    </c:title>
    <c:autoTitleDeleted val="0"/>
    <c:plotArea>
      <c:layout/>
      <c:barChart>
        <c:barDir val="bar"/>
        <c:grouping val="clustered"/>
        <c:varyColors val="0"/>
        <c:ser>
          <c:idx val="0"/>
          <c:order val="0"/>
          <c:tx>
            <c:strRef>
              <c:f>Sheet1!$B$1</c:f>
              <c:strCache>
                <c:ptCount val="1"/>
                <c:pt idx="0">
                  <c:v>19 + wavelet features: same measure</c:v>
                </c:pt>
              </c:strCache>
            </c:strRef>
          </c:tx>
          <c:spPr>
            <a:solidFill>
              <a:srgbClr val="0E7C86"/>
            </a:solidFill>
            <a:effectLst/>
          </c:spPr>
          <c:invertIfNegative val="0"/>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cat>
            <c:multiLvlStrRef>
              <c:f>Sheet1!$A$2:$A$7</c:f>
              <c:multiLvlStrCache>
                <c:ptCount val="6"/>
                <c:lvl>
                  <c:pt idx="0">
                    <c:v>OOK → BPSK</c:v>
                  </c:pt>
                  <c:pt idx="1">
                    <c:v>PI4DQPSK → QPSK</c:v>
                  </c:pt>
                  <c:pt idx="2">
                    <c:v>PI4DQPSK → 8PSK</c:v>
                  </c:pt>
                  <c:pt idx="3">
                    <c:v>QPSK → PI4DQPSK</c:v>
                  </c:pt>
                  <c:pt idx="4">
                    <c:v>WBFM → NBFM</c:v>
                  </c:pt>
                  <c:pt idx="5">
                    <c:v>NBFM → WBFM</c:v>
                  </c:pt>
                </c:lvl>
              </c:multiLvlStrCache>
            </c:multiLvlStrRef>
          </c:cat>
          <c:val>
            <c:numRef>
              <c:f>Sheet1!$B$2:$B$7</c:f>
              <c:numCache>
                <c:formatCode>General</c:formatCode>
                <c:ptCount val="6"/>
                <c:pt idx="0">
                  <c:v>8</c:v>
                </c:pt>
                <c:pt idx="1">
                  <c:v>9</c:v>
                </c:pt>
                <c:pt idx="2">
                  <c:v>10</c:v>
                </c:pt>
                <c:pt idx="3">
                  <c:v>11</c:v>
                </c:pt>
                <c:pt idx="4">
                  <c:v>13</c:v>
                </c:pt>
                <c:pt idx="5">
                  <c:v>19</c:v>
                </c:pt>
              </c:numCache>
            </c:numRef>
          </c:val>
        </c:ser>
        <c:dLbls>
          <c:numFmt formatCode="0" sourceLinked="0"/>
          <c:txPr>
            <a:bodyPr/>
            <a:lstStyle/>
            <a:p>
              <a:pPr>
                <a:defRPr b="0" i="0" strike="noStrike" sz="10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30"/>
          <c:min val="0"/>
        </c:scaling>
        <c:delete val="0"/>
        <c:axPos val="b"/>
        <c:majorGridlines>
          <c:spPr>
            <a:ln w="9525" cap="flat">
              <a:solidFill>
                <a:srgbClr val="D9E2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BPSK / QPSK / 8PSK / 16QAM: accuracy vs SNR (%)</a:t>
            </a:r>
          </a:p>
        </c:rich>
      </c:tx>
      <c:layout/>
      <c:overlay val="0"/>
    </c:title>
    <c:autoTitleDeleted val="0"/>
    <c:plotArea>
      <c:layout/>
      <c:lineChart>
        <c:varyColors val="0"/>
        <c:ser>
          <c:idx val="0"/>
          <c:order val="0"/>
          <c:tx>
            <c:strRef>
              <c:f>Sheet1!$B$1</c:f>
              <c:strCache>
                <c:ptCount val="1"/>
                <c:pt idx="0">
                  <c:v>ALRT, symbol rate known</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0E7C86"/>
              </a:solidFill>
              <a:ln w="9525" cap="flat">
                <a:solidFill>
                  <a:srgbClr val="0E7C86"/>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Sheet1!$B$2:$B$17</c:f>
              <c:numCache>
                <c:formatCode>General</c:formatCode>
                <c:ptCount val="16"/>
                <c:pt idx="0">
                  <c:v>16.2</c:v>
                </c:pt>
                <c:pt idx="1">
                  <c:v>7.5</c:v>
                </c:pt>
                <c:pt idx="2">
                  <c:v>11.2</c:v>
                </c:pt>
                <c:pt idx="3">
                  <c:v>7.5</c:v>
                </c:pt>
                <c:pt idx="4">
                  <c:v>21.2</c:v>
                </c:pt>
                <c:pt idx="5">
                  <c:v>12.5</c:v>
                </c:pt>
                <c:pt idx="6">
                  <c:v>20</c:v>
                </c:pt>
                <c:pt idx="7">
                  <c:v>43.8</c:v>
                </c:pt>
                <c:pt idx="8">
                  <c:v>75</c:v>
                </c:pt>
                <c:pt idx="9">
                  <c:v>77.5</c:v>
                </c:pt>
                <c:pt idx="10">
                  <c:v>85</c:v>
                </c:pt>
                <c:pt idx="11">
                  <c:v>93.8</c:v>
                </c:pt>
                <c:pt idx="12">
                  <c:v>100</c:v>
                </c:pt>
                <c:pt idx="13">
                  <c:v>98.8</c:v>
                </c:pt>
                <c:pt idx="14">
                  <c:v>100</c:v>
                </c:pt>
                <c:pt idx="15">
                  <c:v>100</c:v>
                </c:pt>
              </c:numCache>
            </c:numRef>
          </c:val>
          <c:smooth val="0"/>
        </c:ser>
        <c:ser>
          <c:idx val="1"/>
          <c:order val="1"/>
          <c:tx>
            <c:strRef>
              <c:f>Sheet1!$C$1</c:f>
              <c:strCache>
                <c:ptCount val="1"/>
                <c:pt idx="0">
                  <c:v>ALRT, blind (1,024-sample consensus)</c:v>
                </c:pt>
              </c:strCache>
            </c:strRef>
          </c:tx>
          <c:spPr>
            <a:solidFill>
              <a:srgbClr val="3D5A80"/>
            </a:solidFill>
            <a:ln w="31750" cap="flat">
              <a:solidFill>
                <a:srgbClr val="3D5A80"/>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3D5A80"/>
              </a:solidFill>
              <a:ln w="9525" cap="flat">
                <a:solidFill>
                  <a:srgbClr val="3D5A80"/>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Sheet1!$C$2:$C$17</c:f>
              <c:numCache>
                <c:formatCode>General</c:formatCode>
                <c:ptCount val="16"/>
                <c:pt idx="0">
                  <c:v>6.2</c:v>
                </c:pt>
                <c:pt idx="1">
                  <c:v>11.2</c:v>
                </c:pt>
                <c:pt idx="2">
                  <c:v>5</c:v>
                </c:pt>
                <c:pt idx="3">
                  <c:v>18.8</c:v>
                </c:pt>
                <c:pt idx="4">
                  <c:v>13.8</c:v>
                </c:pt>
                <c:pt idx="5">
                  <c:v>21.2</c:v>
                </c:pt>
                <c:pt idx="6">
                  <c:v>16.2</c:v>
                </c:pt>
                <c:pt idx="7">
                  <c:v>26.2</c:v>
                </c:pt>
                <c:pt idx="8">
                  <c:v>42.5</c:v>
                </c:pt>
                <c:pt idx="9">
                  <c:v>53.8</c:v>
                </c:pt>
                <c:pt idx="10">
                  <c:v>65</c:v>
                </c:pt>
                <c:pt idx="11">
                  <c:v>91.2</c:v>
                </c:pt>
                <c:pt idx="12">
                  <c:v>100</c:v>
                </c:pt>
                <c:pt idx="13">
                  <c:v>97.5</c:v>
                </c:pt>
                <c:pt idx="14">
                  <c:v>100</c:v>
                </c:pt>
                <c:pt idx="15">
                  <c:v>100</c:v>
                </c:pt>
              </c:numCache>
            </c:numRef>
          </c:val>
          <c:smooth val="0"/>
        </c:ser>
        <c:ser>
          <c:idx val="2"/>
          <c:order val="2"/>
          <c:tx>
            <c:strRef>
              <c:f>Sheet1!$D$1</c:f>
              <c:strCache>
                <c:ptCount val="1"/>
                <c:pt idx="0">
                  <c:v>19 features + boosted trees</c:v>
                </c:pt>
              </c:strCache>
            </c:strRef>
          </c:tx>
          <c:spPr>
            <a:solidFill>
              <a:srgbClr val="8A97A3"/>
            </a:solidFill>
            <a:ln w="31750" cap="flat">
              <a:solidFill>
                <a:srgbClr val="8A97A3"/>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8A97A3"/>
              </a:solidFill>
              <a:ln w="9525" cap="flat">
                <a:solidFill>
                  <a:srgbClr val="8A97A3"/>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Sheet1!$D$2:$D$17</c:f>
              <c:numCache>
                <c:formatCode>General</c:formatCode>
                <c:ptCount val="16"/>
                <c:pt idx="0">
                  <c:v>21.2</c:v>
                </c:pt>
                <c:pt idx="1">
                  <c:v>22.5</c:v>
                </c:pt>
                <c:pt idx="2">
                  <c:v>26.2</c:v>
                </c:pt>
                <c:pt idx="3">
                  <c:v>25</c:v>
                </c:pt>
                <c:pt idx="4">
                  <c:v>27.5</c:v>
                </c:pt>
                <c:pt idx="5">
                  <c:v>30</c:v>
                </c:pt>
                <c:pt idx="6">
                  <c:v>43.8</c:v>
                </c:pt>
                <c:pt idx="7">
                  <c:v>50</c:v>
                </c:pt>
                <c:pt idx="8">
                  <c:v>63.7</c:v>
                </c:pt>
                <c:pt idx="9">
                  <c:v>71.2</c:v>
                </c:pt>
                <c:pt idx="10">
                  <c:v>75</c:v>
                </c:pt>
                <c:pt idx="11">
                  <c:v>91.2</c:v>
                </c:pt>
                <c:pt idx="12">
                  <c:v>100</c:v>
                </c:pt>
                <c:pt idx="13">
                  <c:v>98.8</c:v>
                </c:pt>
                <c:pt idx="14">
                  <c:v>100</c:v>
                </c:pt>
                <c:pt idx="15">
                  <c:v>100</c:v>
                </c:pt>
              </c:numCache>
            </c:numRef>
          </c:val>
          <c:smooth val="0"/>
        </c:ser>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B1F24"/>
                    </a:solidFill>
                    <a:latin typeface="+mn-lt"/>
                  </a:defRPr>
                </a:pPr>
                <a:r>
                  <a:rPr sz="1100" b="0" i="0" u="none" strike="noStrike">
                    <a:solidFill>
                      <a:srgbClr val="1B1F24"/>
                    </a:solidFill>
                    <a:latin typeface="+mn-lt"/>
                  </a:rPr>
                  <a:t>SNR label Z = Es/N0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Pd vs SNR, all 13 signal classes, Pfa 10⁻² (%)</a:t>
            </a:r>
          </a:p>
        </c:rich>
      </c:tx>
      <c:layout/>
      <c:overlay val="0"/>
    </c:title>
    <c:autoTitleDeleted val="0"/>
    <c:plotArea>
      <c:layout/>
      <c:lineChart>
        <c:varyColors val="0"/>
        <c:ser>
          <c:idx val="0"/>
          <c:order val="0"/>
          <c:tx>
            <c:strRef>
              <c:f>Sheet1!$B$1</c:f>
              <c:strCache>
                <c:ptCount val="1"/>
                <c:pt idx="0">
                  <c:v>John (eigenvalues); CAV identical</c:v>
                </c:pt>
              </c:strCache>
            </c:strRef>
          </c:tx>
          <c:spPr>
            <a:solidFill>
              <a:srgbClr val="0E7C86"/>
            </a:solidFill>
            <a:ln w="28575" cap="flat">
              <a:solidFill>
                <a:srgbClr val="0E7C86"/>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5"/>
            <c:spPr>
              <a:solidFill>
                <a:srgbClr val="0E7C86"/>
              </a:solidFill>
              <a:ln w="9525" cap="flat">
                <a:solidFill>
                  <a:srgbClr val="0E7C86"/>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Sheet1!$B$2:$B$17</c:f>
              <c:numCache>
                <c:formatCode>General</c:formatCode>
                <c:ptCount val="16"/>
                <c:pt idx="0">
                  <c:v>4.6</c:v>
                </c:pt>
                <c:pt idx="1">
                  <c:v>10.5</c:v>
                </c:pt>
                <c:pt idx="2">
                  <c:v>28.4</c:v>
                </c:pt>
                <c:pt idx="3">
                  <c:v>59.2</c:v>
                </c:pt>
                <c:pt idx="4">
                  <c:v>84</c:v>
                </c:pt>
                <c:pt idx="5">
                  <c:v>94.2</c:v>
                </c:pt>
                <c:pt idx="6">
                  <c:v>99</c:v>
                </c:pt>
                <c:pt idx="7">
                  <c:v>100</c:v>
                </c:pt>
                <c:pt idx="8">
                  <c:v>100</c:v>
                </c:pt>
                <c:pt idx="9">
                  <c:v>100</c:v>
                </c:pt>
                <c:pt idx="10">
                  <c:v>100</c:v>
                </c:pt>
                <c:pt idx="11">
                  <c:v>100</c:v>
                </c:pt>
                <c:pt idx="12">
                  <c:v>100</c:v>
                </c:pt>
                <c:pt idx="13">
                  <c:v>100</c:v>
                </c:pt>
                <c:pt idx="14">
                  <c:v>100</c:v>
                </c:pt>
                <c:pt idx="15">
                  <c:v>100</c:v>
                </c:pt>
              </c:numCache>
            </c:numRef>
          </c:val>
          <c:smooth val="0"/>
        </c:ser>
        <c:ser>
          <c:idx val="1"/>
          <c:order val="1"/>
          <c:tx>
            <c:strRef>
              <c:f>Sheet1!$C$1</c:f>
              <c:strCache>
                <c:ptCount val="1"/>
                <c:pt idx="0">
                  <c:v>Spectral entropy</c:v>
                </c:pt>
              </c:strCache>
            </c:strRef>
          </c:tx>
          <c:spPr>
            <a:solidFill>
              <a:srgbClr val="6A994E"/>
            </a:solidFill>
            <a:ln w="28575" cap="flat">
              <a:solidFill>
                <a:srgbClr val="6A994E"/>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5"/>
            <c:spPr>
              <a:solidFill>
                <a:srgbClr val="6A994E"/>
              </a:solidFill>
              <a:ln w="9525" cap="flat">
                <a:solidFill>
                  <a:srgbClr val="6A994E"/>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Sheet1!$C$2:$C$17</c:f>
              <c:numCache>
                <c:formatCode>General</c:formatCode>
                <c:ptCount val="16"/>
                <c:pt idx="0">
                  <c:v>2.6</c:v>
                </c:pt>
                <c:pt idx="1">
                  <c:v>4.6</c:v>
                </c:pt>
                <c:pt idx="2">
                  <c:v>10.9</c:v>
                </c:pt>
                <c:pt idx="3">
                  <c:v>25.4</c:v>
                </c:pt>
                <c:pt idx="4">
                  <c:v>54.9</c:v>
                </c:pt>
                <c:pt idx="5">
                  <c:v>82.8</c:v>
                </c:pt>
                <c:pt idx="6">
                  <c:v>95.8</c:v>
                </c:pt>
                <c:pt idx="7">
                  <c:v>99.5</c:v>
                </c:pt>
                <c:pt idx="8">
                  <c:v>100</c:v>
                </c:pt>
                <c:pt idx="9">
                  <c:v>100</c:v>
                </c:pt>
                <c:pt idx="10">
                  <c:v>100</c:v>
                </c:pt>
                <c:pt idx="11">
                  <c:v>100</c:v>
                </c:pt>
                <c:pt idx="12">
                  <c:v>100</c:v>
                </c:pt>
                <c:pt idx="13">
                  <c:v>100</c:v>
                </c:pt>
                <c:pt idx="14">
                  <c:v>100</c:v>
                </c:pt>
                <c:pt idx="15">
                  <c:v>100</c:v>
                </c:pt>
              </c:numCache>
            </c:numRef>
          </c:val>
          <c:smooth val="0"/>
        </c:ser>
        <c:ser>
          <c:idx val="2"/>
          <c:order val="2"/>
          <c:tx>
            <c:strRef>
              <c:f>Sheet1!$D$1</c:f>
              <c:strCache>
                <c:ptCount val="1"/>
                <c:pt idx="0">
                  <c:v>PSD occupancy</c:v>
                </c:pt>
              </c:strCache>
            </c:strRef>
          </c:tx>
          <c:spPr>
            <a:solidFill>
              <a:srgbClr val="F2A541"/>
            </a:solidFill>
            <a:ln w="28575" cap="flat">
              <a:solidFill>
                <a:srgbClr val="F2A541"/>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5"/>
            <c:spPr>
              <a:solidFill>
                <a:srgbClr val="F2A541"/>
              </a:solidFill>
              <a:ln w="9525" cap="flat">
                <a:solidFill>
                  <a:srgbClr val="F2A541"/>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Sheet1!$D$2:$D$17</c:f>
              <c:numCache>
                <c:formatCode>General</c:formatCode>
                <c:ptCount val="16"/>
                <c:pt idx="0">
                  <c:v>2</c:v>
                </c:pt>
                <c:pt idx="1">
                  <c:v>4.3</c:v>
                </c:pt>
                <c:pt idx="2">
                  <c:v>7.4</c:v>
                </c:pt>
                <c:pt idx="3">
                  <c:v>11.8</c:v>
                </c:pt>
                <c:pt idx="4">
                  <c:v>18.5</c:v>
                </c:pt>
                <c:pt idx="5">
                  <c:v>34.4</c:v>
                </c:pt>
                <c:pt idx="6">
                  <c:v>64.6</c:v>
                </c:pt>
                <c:pt idx="7">
                  <c:v>91</c:v>
                </c:pt>
                <c:pt idx="8">
                  <c:v>98.5</c:v>
                </c:pt>
                <c:pt idx="9">
                  <c:v>99.9</c:v>
                </c:pt>
                <c:pt idx="10">
                  <c:v>100</c:v>
                </c:pt>
                <c:pt idx="11">
                  <c:v>100</c:v>
                </c:pt>
                <c:pt idx="12">
                  <c:v>100</c:v>
                </c:pt>
                <c:pt idx="13">
                  <c:v>100</c:v>
                </c:pt>
                <c:pt idx="14">
                  <c:v>100</c:v>
                </c:pt>
                <c:pt idx="15">
                  <c:v>100</c:v>
                </c:pt>
              </c:numCache>
            </c:numRef>
          </c:val>
          <c:smooth val="0"/>
        </c:ser>
        <c:ser>
          <c:idx val="3"/>
          <c:order val="3"/>
          <c:tx>
            <c:strRef>
              <c:f>Sheet1!$E$1</c:f>
              <c:strCache>
                <c:ptCount val="1"/>
                <c:pt idx="0">
                  <c:v>Energy (WP4)</c:v>
                </c:pt>
              </c:strCache>
            </c:strRef>
          </c:tx>
          <c:spPr>
            <a:solidFill>
              <a:srgbClr val="C8553D"/>
            </a:solidFill>
            <a:ln w="28575" cap="flat">
              <a:solidFill>
                <a:srgbClr val="C8553D"/>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5"/>
            <c:spPr>
              <a:solidFill>
                <a:srgbClr val="C8553D"/>
              </a:solidFill>
              <a:ln w="9525" cap="flat">
                <a:solidFill>
                  <a:srgbClr val="C8553D"/>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Sheet1!$E$2:$E$17</c:f>
              <c:numCache>
                <c:formatCode>General</c:formatCode>
                <c:ptCount val="16"/>
                <c:pt idx="0">
                  <c:v>1.1</c:v>
                </c:pt>
                <c:pt idx="1">
                  <c:v>1.6</c:v>
                </c:pt>
                <c:pt idx="2">
                  <c:v>2.2</c:v>
                </c:pt>
                <c:pt idx="3">
                  <c:v>4.3</c:v>
                </c:pt>
                <c:pt idx="4">
                  <c:v>7.8</c:v>
                </c:pt>
                <c:pt idx="5">
                  <c:v>18.7</c:v>
                </c:pt>
                <c:pt idx="6">
                  <c:v>46.9</c:v>
                </c:pt>
                <c:pt idx="7">
                  <c:v>80.9</c:v>
                </c:pt>
                <c:pt idx="8">
                  <c:v>95.2</c:v>
                </c:pt>
                <c:pt idx="9">
                  <c:v>99</c:v>
                </c:pt>
                <c:pt idx="10">
                  <c:v>99.6</c:v>
                </c:pt>
                <c:pt idx="11">
                  <c:v>100</c:v>
                </c:pt>
                <c:pt idx="12">
                  <c:v>100</c:v>
                </c:pt>
                <c:pt idx="13">
                  <c:v>100</c:v>
                </c:pt>
                <c:pt idx="14">
                  <c:v>100</c:v>
                </c:pt>
                <c:pt idx="15">
                  <c:v>100</c:v>
                </c:pt>
              </c:numCache>
            </c:numRef>
          </c:val>
          <c:smooth val="0"/>
        </c:ser>
        <c:ser>
          <c:idx val="4"/>
          <c:order val="4"/>
          <c:tx>
            <c:strRef>
              <c:f>Sheet1!$F$1</c:f>
              <c:strCache>
                <c:ptCount val="1"/>
                <c:pt idx="0">
                  <c:v>Cyclostationary</c:v>
                </c:pt>
              </c:strCache>
            </c:strRef>
          </c:tx>
          <c:spPr>
            <a:solidFill>
              <a:srgbClr val="8A97A3"/>
            </a:solidFill>
            <a:ln w="28575" cap="flat">
              <a:solidFill>
                <a:srgbClr val="8A97A3"/>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5"/>
            <c:spPr>
              <a:solidFill>
                <a:srgbClr val="8A97A3"/>
              </a:solidFill>
              <a:ln w="9525" cap="flat">
                <a:solidFill>
                  <a:srgbClr val="8A97A3"/>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Sheet1!$F$2:$F$17</c:f>
              <c:numCache>
                <c:formatCode>General</c:formatCode>
                <c:ptCount val="16"/>
                <c:pt idx="0">
                  <c:v>1.1</c:v>
                </c:pt>
                <c:pt idx="1">
                  <c:v>0.7</c:v>
                </c:pt>
                <c:pt idx="2">
                  <c:v>0.7</c:v>
                </c:pt>
                <c:pt idx="3">
                  <c:v>1.1</c:v>
                </c:pt>
                <c:pt idx="4">
                  <c:v>3.2</c:v>
                </c:pt>
                <c:pt idx="5">
                  <c:v>10</c:v>
                </c:pt>
                <c:pt idx="6">
                  <c:v>20.4</c:v>
                </c:pt>
                <c:pt idx="7">
                  <c:v>28.2</c:v>
                </c:pt>
                <c:pt idx="8">
                  <c:v>33.5</c:v>
                </c:pt>
                <c:pt idx="9">
                  <c:v>44</c:v>
                </c:pt>
                <c:pt idx="10">
                  <c:v>60.7</c:v>
                </c:pt>
                <c:pt idx="11">
                  <c:v>82.8</c:v>
                </c:pt>
                <c:pt idx="12">
                  <c:v>94.7</c:v>
                </c:pt>
                <c:pt idx="13">
                  <c:v>99</c:v>
                </c:pt>
                <c:pt idx="14">
                  <c:v>99.8</c:v>
                </c:pt>
                <c:pt idx="15">
                  <c:v>99.8</c:v>
                </c:pt>
              </c:numCache>
            </c:numRef>
          </c:val>
          <c:smooth val="0"/>
        </c:ser>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B1F24"/>
                    </a:solidFill>
                    <a:latin typeface="+mn-lt"/>
                  </a:defRPr>
                </a:pPr>
                <a:r>
                  <a:rPr sz="1100" b="0" i="0" u="none" strike="noStrike">
                    <a:solidFill>
                      <a:srgbClr val="1B1F24"/>
                    </a:solidFill>
                    <a:latin typeface="+mn-lt"/>
                  </a:rPr>
                  <a:t>SNR label Z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SNR estimation: median |error| vs SNR (dB)</a:t>
            </a:r>
          </a:p>
        </c:rich>
      </c:tx>
      <c:layout/>
      <c:overlay val="0"/>
    </c:title>
    <c:autoTitleDeleted val="0"/>
    <c:plotArea>
      <c:layout/>
      <c:lineChart>
        <c:varyColors val="0"/>
        <c:ser>
          <c:idx val="0"/>
          <c:order val="0"/>
          <c:tx>
            <c:strRef>
              <c:f>Sheet1!$B$1</c:f>
              <c:strCache>
                <c:ptCount val="1"/>
                <c:pt idx="0">
                  <c:v>In-band SNR, estimated band</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0E7C86"/>
              </a:solidFill>
              <a:ln w="9525" cap="flat">
                <a:solidFill>
                  <a:srgbClr val="0E7C86"/>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Sheet1!$B$2:$B$17</c:f>
              <c:numCache>
                <c:formatCode>General</c:formatCode>
                <c:ptCount val="16"/>
                <c:pt idx="0">
                  <c:v>3.91</c:v>
                </c:pt>
                <c:pt idx="1">
                  <c:v>2.57</c:v>
                </c:pt>
                <c:pt idx="2">
                  <c:v>1.98</c:v>
                </c:pt>
                <c:pt idx="3">
                  <c:v>1.57</c:v>
                </c:pt>
                <c:pt idx="4">
                  <c:v>1.4</c:v>
                </c:pt>
                <c:pt idx="5">
                  <c:v>1.33</c:v>
                </c:pt>
                <c:pt idx="6">
                  <c:v>1.18</c:v>
                </c:pt>
                <c:pt idx="7">
                  <c:v>1.13</c:v>
                </c:pt>
                <c:pt idx="8">
                  <c:v>0.94</c:v>
                </c:pt>
                <c:pt idx="9">
                  <c:v>0.65</c:v>
                </c:pt>
                <c:pt idx="10">
                  <c:v>0.43</c:v>
                </c:pt>
                <c:pt idx="11">
                  <c:v>0.38</c:v>
                </c:pt>
                <c:pt idx="12">
                  <c:v>0.36</c:v>
                </c:pt>
                <c:pt idx="13">
                  <c:v>0.38</c:v>
                </c:pt>
                <c:pt idx="14">
                  <c:v>0.42</c:v>
                </c:pt>
                <c:pt idx="15">
                  <c:v>0.48</c:v>
                </c:pt>
              </c:numCache>
            </c:numRef>
          </c:val>
          <c:smooth val="0"/>
        </c:ser>
        <c:ser>
          <c:idx val="1"/>
          <c:order val="1"/>
          <c:tx>
            <c:strRef>
              <c:f>Sheet1!$C$1</c:f>
              <c:strCache>
                <c:ptCount val="1"/>
                <c:pt idx="0">
                  <c:v>In-band SNR, true band</c:v>
                </c:pt>
              </c:strCache>
            </c:strRef>
          </c:tx>
          <c:spPr>
            <a:solidFill>
              <a:srgbClr val="8A97A3"/>
            </a:solidFill>
            <a:ln w="31750" cap="flat">
              <a:solidFill>
                <a:srgbClr val="8A97A3"/>
              </a:solidFill>
              <a:prstDash val="solid"/>
              <a:round/>
            </a:ln>
            <a:effectLst/>
          </c:spPr>
          <c:invertIfNegative val="0"/>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c:symbol val="circle"/>
            <c:size val="6"/>
            <c:spPr>
              <a:solidFill>
                <a:srgbClr val="8A97A3"/>
              </a:solidFill>
              <a:ln w="9525" cap="flat">
                <a:solidFill>
                  <a:srgbClr val="8A97A3"/>
                </a:solidFill>
                <a:prstDash val="solid"/>
                <a:round/>
              </a:ln>
              <a:effectLst/>
            </c:spPr>
          </c:marker>
          <c:cat>
            <c:multiLvlStrRef>
              <c:f>Sheet1!$A$2:$A$17</c:f>
              <c:multiLvlStrCache>
                <c:ptCount val="16"/>
                <c:lvl>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pt idx="15">
                    <c:v>20</c:v>
                  </c:pt>
                </c:lvl>
              </c:multiLvlStrCache>
            </c:multiLvlStrRef>
          </c:cat>
          <c:val>
            <c:numRef>
              <c:f>Sheet1!$C$2:$C$17</c:f>
              <c:numCache>
                <c:formatCode>General</c:formatCode>
                <c:ptCount val="16"/>
                <c:pt idx="0">
                  <c:v>3.11</c:v>
                </c:pt>
                <c:pt idx="1">
                  <c:v>2.31</c:v>
                </c:pt>
                <c:pt idx="2">
                  <c:v>1.73</c:v>
                </c:pt>
                <c:pt idx="3">
                  <c:v>1.35</c:v>
                </c:pt>
                <c:pt idx="4">
                  <c:v>1.01</c:v>
                </c:pt>
                <c:pt idx="5">
                  <c:v>0.78</c:v>
                </c:pt>
                <c:pt idx="6">
                  <c:v>0.62</c:v>
                </c:pt>
                <c:pt idx="7">
                  <c:v>0.48</c:v>
                </c:pt>
                <c:pt idx="8">
                  <c:v>0.39</c:v>
                </c:pt>
                <c:pt idx="9">
                  <c:v>0.35</c:v>
                </c:pt>
                <c:pt idx="10">
                  <c:v>0.34</c:v>
                </c:pt>
                <c:pt idx="11">
                  <c:v>0.35</c:v>
                </c:pt>
                <c:pt idx="12">
                  <c:v>0.34</c:v>
                </c:pt>
                <c:pt idx="13">
                  <c:v>0.37</c:v>
                </c:pt>
                <c:pt idx="14">
                  <c:v>0.42</c:v>
                </c:pt>
                <c:pt idx="15">
                  <c:v>0.49</c:v>
                </c:pt>
              </c:numCache>
            </c:numRef>
          </c:val>
          <c:smooth val="0"/>
        </c:ser>
        <c:dLbls>
          <c:numFmt formatCode="#,##0" sourceLinked="0"/>
          <c:txPr>
            <a:bodyPr/>
            <a:lstStyle/>
            <a:p>
              <a:pPr>
                <a:defRPr b="0" i="0" strike="noStrike" sz="1000" u="none">
                  <a:solidFill>
                    <a:srgbClr val="1B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B1F24"/>
                    </a:solidFill>
                    <a:latin typeface="+mn-lt"/>
                  </a:defRPr>
                </a:pPr>
                <a:r>
                  <a:rPr sz="1100" b="0" i="0" u="none" strike="noStrike">
                    <a:solidFill>
                      <a:srgbClr val="1B1F24"/>
                    </a:solidFill>
                    <a:latin typeface="+mn-lt"/>
                  </a:rPr>
                  <a:t>SNR label Z (dB)</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9E2E4"/>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4"/>
                </a:solidFill>
                <a:latin typeface="+mn-lt"/>
              </a:defRPr>
            </a:pPr>
            <a:r>
              <a:rPr sz="1300" b="0" i="0" u="none" strike="noStrike">
                <a:solidFill>
                  <a:srgbClr val="1B1F24"/>
                </a:solidFill>
                <a:latin typeface="+mn-lt"/>
              </a:rPr>
              <a:t>Accuracy per class at SNR ≥ 10 dB (%)</a:t>
            </a:r>
          </a:p>
        </c:rich>
      </c:tx>
      <c:layout/>
      <c:overlay val="0"/>
    </c:title>
    <c:autoTitleDeleted val="0"/>
    <c:plotArea>
      <c:layout/>
      <c:barChart>
        <c:barDir val="col"/>
        <c:grouping val="clustered"/>
        <c:varyColors val="0"/>
        <c:ser>
          <c:idx val="0"/>
          <c:order val="0"/>
          <c:tx>
            <c:strRef>
              <c:f>Sheet1!$B$1</c:f>
              <c:strCache>
                <c:ptCount val="1"/>
                <c:pt idx="0">
                  <c:v>19 features</c:v>
                </c:pt>
              </c:strCache>
            </c:strRef>
          </c:tx>
          <c:spPr>
            <a:solidFill>
              <a:srgbClr val="8A97A3"/>
            </a:solidFill>
            <a:effectLst/>
          </c:spPr>
          <c:invertIfNegative val="0"/>
          <c:dLbls>
            <c:numFmt formatCode="0" sourceLinked="0"/>
            <c:txPr>
              <a:bodyPr/>
              <a:lstStyle/>
              <a:p>
                <a:pPr>
                  <a:defRPr b="0" i="0" strike="noStrike" sz="900" u="none">
                    <a:solidFill>
                      <a:srgbClr val="1B1F24"/>
                    </a:solidFill>
                    <a:latin typeface="+mn-lt"/>
                  </a:defRPr>
                </a:pPr>
              </a:p>
            </c:txPr>
            <c:showLegendKey val="0"/>
            <c:showVal val="1"/>
            <c:showCatName val="0"/>
            <c:showSerName val="0"/>
            <c:showPercent val="0"/>
            <c:showBubbleSize val="0"/>
            <c:showLeaderLines val="0"/>
          </c:dLbls>
          <c:cat>
            <c:multiLvlStrRef>
              <c:f>Sheet1!$A$2:$A$14</c:f>
              <c:multiLvlStrCache>
                <c:ptCount val="13"/>
                <c:lvl>
                  <c:pt idx="0">
                    <c:v>AM</c:v>
                  </c:pt>
                  <c:pt idx="1">
                    <c:v>NBFM</c:v>
                  </c:pt>
                  <c:pt idx="2">
                    <c:v>WBFM</c:v>
                  </c:pt>
                  <c:pt idx="3">
                    <c:v>OOK</c:v>
                  </c:pt>
                  <c:pt idx="4">
                    <c:v>2FSK</c:v>
                  </c:pt>
                  <c:pt idx="5">
                    <c:v>4FSK</c:v>
                  </c:pt>
                  <c:pt idx="6">
                    <c:v>GMSK</c:v>
                  </c:pt>
                  <c:pt idx="7">
                    <c:v>BPSK</c:v>
                  </c:pt>
                  <c:pt idx="8">
                    <c:v>QPSK</c:v>
                  </c:pt>
                  <c:pt idx="9">
                    <c:v>PI4DQPSK</c:v>
                  </c:pt>
                  <c:pt idx="10">
                    <c:v>8PSK</c:v>
                  </c:pt>
                  <c:pt idx="11">
                    <c:v>16QAM</c:v>
                  </c:pt>
                  <c:pt idx="12">
                    <c:v>OFDM</c:v>
                  </c:pt>
                </c:lvl>
              </c:multiLvlStrCache>
            </c:multiLvlStrRef>
          </c:cat>
          <c:val>
            <c:numRef>
              <c:f>Sheet1!$B$2:$B$14</c:f>
              <c:numCache>
                <c:formatCode>General</c:formatCode>
                <c:ptCount val="13"/>
                <c:pt idx="0">
                  <c:v>95.6</c:v>
                </c:pt>
                <c:pt idx="1">
                  <c:v>53.1</c:v>
                </c:pt>
                <c:pt idx="2">
                  <c:v>47.8</c:v>
                </c:pt>
                <c:pt idx="3">
                  <c:v>91.2</c:v>
                </c:pt>
                <c:pt idx="4">
                  <c:v>75</c:v>
                </c:pt>
                <c:pt idx="5">
                  <c:v>57.9</c:v>
                </c:pt>
                <c:pt idx="6">
                  <c:v>94.7</c:v>
                </c:pt>
                <c:pt idx="7">
                  <c:v>98.2</c:v>
                </c:pt>
                <c:pt idx="8">
                  <c:v>68.2</c:v>
                </c:pt>
                <c:pt idx="9">
                  <c:v>66.3</c:v>
                </c:pt>
                <c:pt idx="10">
                  <c:v>83.4</c:v>
                </c:pt>
                <c:pt idx="11">
                  <c:v>94.2</c:v>
                </c:pt>
                <c:pt idx="12">
                  <c:v>99</c:v>
                </c:pt>
              </c:numCache>
            </c:numRef>
          </c:val>
        </c:ser>
        <c:ser>
          <c:idx val="1"/>
          <c:order val="1"/>
          <c:tx>
            <c:strRef>
              <c:f>Sheet1!$C$1</c:f>
              <c:strCache>
                <c:ptCount val="1"/>
                <c:pt idx="0">
                  <c:v>19 + 24 wavelet features</c:v>
                </c:pt>
              </c:strCache>
            </c:strRef>
          </c:tx>
          <c:spPr>
            <a:solidFill>
              <a:srgbClr val="0E7C86"/>
            </a:solidFill>
            <a:effectLst/>
          </c:spPr>
          <c:invertIfNegative val="0"/>
          <c:dLbls>
            <c:numFmt formatCode="0" sourceLinked="0"/>
            <c:txPr>
              <a:bodyPr/>
              <a:lstStyle/>
              <a:p>
                <a:pPr>
                  <a:defRPr b="0" i="0" strike="noStrike" sz="900" u="none">
                    <a:solidFill>
                      <a:srgbClr val="1B1F24"/>
                    </a:solidFill>
                    <a:latin typeface="+mn-lt"/>
                  </a:defRPr>
                </a:pPr>
              </a:p>
            </c:txPr>
            <c:showLegendKey val="0"/>
            <c:showVal val="1"/>
            <c:showCatName val="0"/>
            <c:showSerName val="0"/>
            <c:showPercent val="0"/>
            <c:showBubbleSize val="0"/>
            <c:showLeaderLines val="0"/>
          </c:dLbls>
          <c:cat>
            <c:multiLvlStrRef>
              <c:f>Sheet1!$A$2:$A$14</c:f>
              <c:multiLvlStrCache>
                <c:ptCount val="13"/>
                <c:lvl>
                  <c:pt idx="0">
                    <c:v>AM</c:v>
                  </c:pt>
                  <c:pt idx="1">
                    <c:v>NBFM</c:v>
                  </c:pt>
                  <c:pt idx="2">
                    <c:v>WBFM</c:v>
                  </c:pt>
                  <c:pt idx="3">
                    <c:v>OOK</c:v>
                  </c:pt>
                  <c:pt idx="4">
                    <c:v>2FSK</c:v>
                  </c:pt>
                  <c:pt idx="5">
                    <c:v>4FSK</c:v>
                  </c:pt>
                  <c:pt idx="6">
                    <c:v>GMSK</c:v>
                  </c:pt>
                  <c:pt idx="7">
                    <c:v>BPSK</c:v>
                  </c:pt>
                  <c:pt idx="8">
                    <c:v>QPSK</c:v>
                  </c:pt>
                  <c:pt idx="9">
                    <c:v>PI4DQPSK</c:v>
                  </c:pt>
                  <c:pt idx="10">
                    <c:v>8PSK</c:v>
                  </c:pt>
                  <c:pt idx="11">
                    <c:v>16QAM</c:v>
                  </c:pt>
                  <c:pt idx="12">
                    <c:v>OFDM</c:v>
                  </c:pt>
                </c:lvl>
              </c:multiLvlStrCache>
            </c:multiLvlStrRef>
          </c:cat>
          <c:val>
            <c:numRef>
              <c:f>Sheet1!$C$2:$C$14</c:f>
              <c:numCache>
                <c:formatCode>General</c:formatCode>
                <c:ptCount val="13"/>
                <c:pt idx="0">
                  <c:v>95.9</c:v>
                </c:pt>
                <c:pt idx="1">
                  <c:v>74.5</c:v>
                </c:pt>
                <c:pt idx="2">
                  <c:v>84.2</c:v>
                </c:pt>
                <c:pt idx="3">
                  <c:v>91.8</c:v>
                </c:pt>
                <c:pt idx="4">
                  <c:v>99.1</c:v>
                </c:pt>
                <c:pt idx="5">
                  <c:v>86.3</c:v>
                </c:pt>
                <c:pt idx="6">
                  <c:v>98.3</c:v>
                </c:pt>
                <c:pt idx="7">
                  <c:v>98.2</c:v>
                </c:pt>
                <c:pt idx="8">
                  <c:v>81.2</c:v>
                </c:pt>
                <c:pt idx="9">
                  <c:v>79.3</c:v>
                </c:pt>
                <c:pt idx="10">
                  <c:v>86.1</c:v>
                </c:pt>
                <c:pt idx="11">
                  <c:v>98.6</c:v>
                </c:pt>
                <c:pt idx="12">
                  <c:v>99.4</c:v>
                </c:pt>
              </c:numCache>
            </c:numRef>
          </c:val>
        </c:ser>
        <c:dLbls>
          <c:numFmt formatCode="0" sourceLinked="0"/>
          <c:txPr>
            <a:bodyPr/>
            <a:lstStyle/>
            <a:p>
              <a:pPr>
                <a:defRPr b="0" i="0" strike="noStrike" sz="900" u="none">
                  <a:solidFill>
                    <a:srgbClr val="1B1F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B1F2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only for you, Umut. The deck has two parts: the talk (slides 2 to 16) and backup material (17 to 23) that explains the code in more detail and prepares you for questions. The code is on GitHub (https://github.com/CemPalabiyik/EE493-TUBITAK, branch dataset1-classical-eval) in the folder Cem-Ege/dataset1_eval; its README.md lists every script and how to rerun everything. If a number on a slide looks odd, the matching JSON file is named in the slide notes or on slide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Cem and Ege built a classical (non-AI) baseline for detection, identification and characterization, but they tested it on public datasets (RadioML and TorchSig). We ran all of it on our own Dataset 1. These numbers are the bar our CNN/ResNet models must beat.
IF ASKED: Classical means hand-made features, statistics and rules, no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blocks. Our generator makes the dataset. Our new scripts load the clips, hand them to Cem and Ege's methods, and score the answers against the true labels. The results come out as tables and figures, per modulation type and per SNR.
HOW TO READ IT: Read left to right. The only new code is block 2; blocks 1 and 3 already existed in the repo.
IF ASKED: Why not change their code? So their published baseline stays exactly as they reported it, and anyone can check that our numbers come from the same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we rebuilt the dataset, because data files are not stored in Git. The generator uses a fixed random seed, so everyone gets the same clips; we confirmed this by generating it twice and getting identical files. Then we computed features once for all 224,000 clips, ran each method with a strict train/test split, and scored the answers per class and per SNR.
IF ASKED: Why rebuild instead of downloading? The shared-drive copy was not available to the scripts; the seed makes the rebuild identical anyway. Train split = 70 % of clips, test split = 15 %, chosen by the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integration. Each of our scripts is a thin wrapper: it loads our clips and labels, calls Cem and Ege's function exactly as they wrote it, and scores the output. The left column is what we wrote, the middle column is their code that we call, the right column is what it gives us.
HOW TO READ IT: One row per method family. Folder names are relative to Cem-Ege/ in the repo.
IF ASKED: What did the wrappers have to adapt? See backup slide 18: for example the class names, the sample rate the estimators expect, and how detection thresholds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different tests. Identification asks which modulation it is. Detection asks whether there is a signal at all; we fix the false-alarm rate at 1 % using noise-only clips and then measure how many real signals are caught. Characterization asks for the signal's parameters and compares them with the truth the generator stored.
IF ASKED: Why 1 % false alarms? It is a standard operating point and the same one Cem and Ege report next to 0.1 %; both are in the results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numbers to remember. The best classical identifier is right 90 % of the time from 10 dB up. The best detector finds 90 % of signals from 0 dB. SNR and carrier estimation work well. Symbol-rate estimation does not.
HOW TO READ IT: SNR ≥ 10 dB means we average over the clips whose SNR label is 10, 12, …, 20 dB.
IF ASKED: Is 90 % good? It is the classical bar; the target set with İLTAREN is 85 %, which this model reaches from 12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 fed the same 19 features to eight different classifiers. The top three are within about one point of each other, so a better classifier does not help; better features do. This matches what Cem and Ege found on RadioML.
HOW TO READ IT: Each bar is the % of test clips (SNR 10 dB and up) given the right class. Chance for 14 classes is 7 %.
IF ASKED: Why is it lower than their 99.95 %? Our 14 classes include look-alike pairs (voice FM vs broadcast FM, QPSK vs π/4-DQPSK) and every signal fills a random 10–35 % of the band, so width does not give the answer away. Random forest used 60,000 training clips (memory) and SVM 40,000 (their script's limit). Source: results/identification/classifiers.json.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Adding Cem and Ege's 24 Haar wavelet features is the biggest single improvement: the curve moves about 4 dB to the left, so the model reaches 85 % at 12 dB instead of 16 dB. On RadioML these features barely helped; on our data they matter a lot.
HOW TO READ IT: Each point is the % correct over all 13 signal classes at that SNR. The gap between the lines is the gain from wavelets.
IF ASKED: What is a Haar wavelet feature? It measures how fast the signal's amplitude or phase changes over short windows, which reveals FSK tone switches and PSK phase jumps. Source: results/identification/extended.json.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full picture per modulation type and SNR for the best classical model. BPSK and OFDM are reliable from about 6 dB; QPSK, π/4-DQPSK and 8PSK only from about 14 dB; NBFM never goes above about 82 %.
HOW TO READ IT: Read across a row: the SNR where the cell turns dark is where that class becomes reliable. Each cell is about 150 test clips.
IF ASKED: Why is AM good even at −10 dB? Its carrier is a strong spectral line that survives noise. Source: results/tables/id_hgb_wavelet_class_snr.csv.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the model is wrong, it is wrong between signals that really look alike: voice FM and broadcast FM, and the QPSK family. Wavelet features removed the FM-vs-4FSK mix-ups, but these pairs remain. This is exactly where a learned model should do better.
HOW TO READ IT: Each bar: of all test clips of the first class (SNR 10 dB and up), the % labelled as the second class. Example: 27 % of WBFM clips were called NBFM with the 19 features.
IF ASKED: Why are they hard? NBFM and WBFM differ mainly in deviation and the stereo pilot; π/4-DQPSK is QPSK whose constellation rotates by 45° each symbol. Full confusion matrices: results/figures/id_*_confusion_*.png.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Ege's likelihood classifier is the classical best case for the four PSK/QAM classes: it compares each clip with the known constellations. With the true symbol rate it reaches 85 % at 10 dB, only about 2 dB ahead of the feature classifier. Without the true symbol rate it loses a few points. The old rule-based trees do not transfer to our data.
HOW TO READ IT: Three lines on the same 1,280 test clips (20 per class and SNR, so each point is about ±5 %). Below about 4 dB all methods are near chance (25 %).
IF ASKED: Why does every π/4-DQPSK clip become QPSK? The likelihood classifier only knows BPSK, QPSK, 8PSK, 16QAM and 64QAM; adding a π/4-DQPSK hypothesis is a next step. Source: results/identification/likelihood.json and rules.json.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For detection we asked: signal or only noise? The eigenvalue and covariance detectors (John, CAV) find 90 % of signals from 0 dB; the classic energy detector needs about 6 dB. On Cem and Ege's TorchSig scenes energy was the winner, so the ranking flips on our data.
HOW TO READ IT: Each line: % of signal clips detected at that SNR, with the threshold fixed so that 1 % of noise-only clips raise a false alarm. Further left = better.
IF ASKED: Why does energy lose? Every clip is scaled to the same power, so there is no absolute noise level to compare against; covariance detectors instead notice that a narrow signal makes neighbouring samples similar. CFAR and similar box detectors need wideband scenes, which Dataset 1 does not have yet. Source: results/detection/detection.json; full ranking on backup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Ertuğ's characterization estimators carry over well. The carrier is found within about 2 % of the signal's bandwidth, the bandwidth within 15 % (2–4 % above 10 dB), and the SNR within about 0.6 to 0.9 dB.
HOW TO READ IT: The chart shows the typical (median) SNR error at each SNR level: large at −10 dB, under half a dB from 10 dB up.
IF ASKED: Where does the true carrier come from? The dataset file does not store it, so we re-ran the generator's random numbers to recover it; that also proved the file is reproducible. Source: results/characterization/wp6.json.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Symbol-rate estimation is the one part that does not transfer. Overall only a quarter of clips are within 2 %. PSK signals are fine above about 14–16 dB, but FSK, OOK and 16QAM struggle.
HOW TO READ IT: Read across a row: the % of clips where the estimated symbol rate is within 2 % of the truth, at each SNR.
IF ASKED: Can it be fixed? Likely partly: re-tune the vote on our train split and widen its search range for slow FSK signals; both are listed as next steps. Source: results/characterization/symbol_rate.json.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Be honest about the limits: this is synthetic data, train and test come from the same generator, and some settings were tuned on other datasets. The most useful next step is to put our CNN's results in the same tables, so the comparison is one plot.
IF ASKED: What must the CNN beat? 90.2 % at SNR ≥ 10 dB and 85 % from 12 dB for identification; Pd 90 % from 0 dB for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file in Cem-Ege/dataset1_eval and what it does. They run in the order listed in README.md. Large caches (feature files, predictions) are not committed to Git; the scripts recreate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only places where we had to adapt something to our data. None of them changes Cem and Ege's code; each one is handled inside our scripts and documented in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definitions for the terms used on the result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Per-class view of the wavelet gain at SNR 10 dB and up: grey is the 19 features, teal adds the wavelet features. Use it if someone asks which classes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detectors at both false-alarm targets. The eigenvalue and covariance family are within one point of each other; cyclostationary detectors are weak on 1,024-sample clips because a clip holds few symbol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answers to the questions most likely to come up. The longer explanations are in the IF ASKED part of each result slide's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github.com/CemPalabiyik/EE493-TUBITAK, branch dataset1-classical-eval (or main after it is merged). The README in Cem-Ege/dataset1_eval repeats these commands and explains every adaptation. Every chart in this deck has a matching CSV in results/tables.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EEE 493  ·  Classical baseline on Dataset 1 v3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Read me first: how to use this deck</a:t>
            </a:r>
            <a:endParaRPr lang="en-US" sz="3200" dirty="0"/>
          </a:p>
        </p:txBody>
      </p:sp>
      <p:sp>
        <p:nvSpPr>
          <p:cNvPr id="3" name="Text 1"/>
          <p:cNvSpPr txBox="1"/>
          <p:nvPr/>
        </p:nvSpPr>
        <p:spPr>
          <a:xfrm>
            <a:off x="548640" y="1143000"/>
            <a:ext cx="11064240" cy="365760"/>
          </a:xfrm>
          <a:prstGeom prst="rect">
            <a:avLst/>
          </a:prstGeom>
          <a:noFill/>
          <a:ln/>
        </p:spPr>
        <p:txBody>
          <a:bodyPr wrap="square" lIns="0" tIns="0" rIns="0" bIns="0" rtlCol="0" anchor="t"/>
          <a:lstStyle/>
          <a:p>
            <a:pPr indent="0" marL="0">
              <a:buNone/>
            </a:pPr>
            <a:r>
              <a:rPr lang="en-US" sz="1500" i="1" dirty="0">
                <a:solidFill>
                  <a:schemeClr val="accent3"/>
                </a:solidFill>
              </a:rPr>
              <a:t>For Umut, who will present. Delete or hide this slide before the talk.</a:t>
            </a:r>
            <a:endParaRPr lang="en-US" sz="1500" dirty="0"/>
          </a:p>
        </p:txBody>
      </p:sp>
      <p:sp>
        <p:nvSpPr>
          <p:cNvPr id="4" name="guide 1"/>
          <p:cNvSpPr/>
          <p:nvPr/>
        </p:nvSpPr>
        <p:spPr>
          <a:xfrm>
            <a:off x="548640" y="1737360"/>
            <a:ext cx="3474720" cy="4206240"/>
          </a:xfrm>
          <a:prstGeom prst="roundRect">
            <a:avLst>
              <a:gd name="adj" fmla="val 2105"/>
            </a:avLst>
          </a:prstGeom>
          <a:solidFill>
            <a:schemeClr val="bg2"/>
          </a:solidFill>
          <a:ln/>
        </p:spPr>
      </p:sp>
      <p:sp>
        <p:nvSpPr>
          <p:cNvPr id="5" name="1  Read the notes circle"/>
          <p:cNvSpPr/>
          <p:nvPr/>
        </p:nvSpPr>
        <p:spPr>
          <a:xfrm>
            <a:off x="822960" y="2011680"/>
            <a:ext cx="685800" cy="685800"/>
          </a:xfrm>
          <a:prstGeom prst="ellipse">
            <a:avLst/>
          </a:prstGeom>
          <a:solidFill>
            <a:schemeClr val="accent1"/>
          </a:solidFill>
          <a:ln/>
        </p:spPr>
      </p:sp>
      <p:pic>
        <p:nvPicPr>
          <p:cNvPr id="6" name="1  Read the notes icon" descr="1  Read the notes">    </p:cNvPr>
          <p:cNvPicPr>
            <a:picLocks noChangeAspect="1"/>
          </p:cNvPicPr>
          <p:nvPr/>
        </p:nvPicPr>
        <p:blipFill>
          <a:blip r:embed="rId1"/>
          <a:stretch>
            <a:fillRect/>
          </a:stretch>
        </p:blipFill>
        <p:spPr>
          <a:xfrm>
            <a:off x="973836" y="2162556"/>
            <a:ext cx="384048" cy="384048"/>
          </a:xfrm>
          <a:prstGeom prst="rect">
            <a:avLst/>
          </a:prstGeom>
        </p:spPr>
      </p:pic>
      <p:sp>
        <p:nvSpPr>
          <p:cNvPr id="7" name="Text 4"/>
          <p:cNvSpPr txBox="1"/>
          <p:nvPr/>
        </p:nvSpPr>
        <p:spPr>
          <a:xfrm>
            <a:off x="822960" y="2880360"/>
            <a:ext cx="2926080" cy="457200"/>
          </a:xfrm>
          <a:prstGeom prst="rect">
            <a:avLst/>
          </a:prstGeom>
          <a:noFill/>
          <a:ln/>
        </p:spPr>
        <p:txBody>
          <a:bodyPr wrap="square" lIns="0" tIns="0" rIns="0" bIns="0" rtlCol="0" anchor="t"/>
          <a:lstStyle/>
          <a:p>
            <a:pPr indent="0" marL="0">
              <a:buNone/>
            </a:pPr>
            <a:r>
              <a:rPr lang="en-US" sz="2000" b="1" dirty="0">
                <a:solidFill>
                  <a:schemeClr val="tx2"/>
                </a:solidFill>
              </a:rPr>
              <a:t>1  Read the notes</a:t>
            </a:r>
            <a:endParaRPr lang="en-US" sz="2000" dirty="0"/>
          </a:p>
        </p:txBody>
      </p:sp>
      <p:sp>
        <p:nvSpPr>
          <p:cNvPr id="8" name="Text 5"/>
          <p:cNvSpPr txBox="1"/>
          <p:nvPr/>
        </p:nvSpPr>
        <p:spPr>
          <a:xfrm>
            <a:off x="822960" y="3474720"/>
            <a:ext cx="29260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Every slide has speaker notes: what to say, how to read the chart, and likely questions</a:t>
            </a:r>
            <a:endParaRPr lang="en-US" sz="1400" dirty="0"/>
          </a:p>
          <a:p>
            <a:pPr marL="342900" indent="-342900">
              <a:spcAft>
                <a:spcPts val="800"/>
              </a:spcAft>
              <a:buSzPct val="100000"/>
              <a:buChar char="•"/>
            </a:pPr>
            <a:r>
              <a:rPr lang="en-US" sz="1400" dirty="0">
                <a:solidFill>
                  <a:schemeClr val="tx1"/>
                </a:solidFill>
              </a:rPr>
              <a:t>Slides 2–16 are the talk (about 20 minutes); 17–23 are backup and reference</a:t>
            </a:r>
            <a:endParaRPr lang="en-US" sz="1400" dirty="0"/>
          </a:p>
        </p:txBody>
      </p:sp>
      <p:sp>
        <p:nvSpPr>
          <p:cNvPr id="9" name="guide 2"/>
          <p:cNvSpPr/>
          <p:nvPr/>
        </p:nvSpPr>
        <p:spPr>
          <a:xfrm>
            <a:off x="4297680" y="1737360"/>
            <a:ext cx="3474720" cy="4206240"/>
          </a:xfrm>
          <a:prstGeom prst="roundRect">
            <a:avLst>
              <a:gd name="adj" fmla="val 2105"/>
            </a:avLst>
          </a:prstGeom>
          <a:solidFill>
            <a:schemeClr val="bg2"/>
          </a:solidFill>
          <a:ln/>
        </p:spPr>
      </p:sp>
      <p:sp>
        <p:nvSpPr>
          <p:cNvPr id="10" name="2  Open the code circle"/>
          <p:cNvSpPr/>
          <p:nvPr/>
        </p:nvSpPr>
        <p:spPr>
          <a:xfrm>
            <a:off x="4572000" y="2011680"/>
            <a:ext cx="685800" cy="685800"/>
          </a:xfrm>
          <a:prstGeom prst="ellipse">
            <a:avLst/>
          </a:prstGeom>
          <a:solidFill>
            <a:schemeClr val="accent1"/>
          </a:solidFill>
          <a:ln/>
        </p:spPr>
      </p:sp>
      <p:pic>
        <p:nvPicPr>
          <p:cNvPr id="11" name="2  Open the code icon" descr="2  Open the code">    </p:cNvPr>
          <p:cNvPicPr>
            <a:picLocks noChangeAspect="1"/>
          </p:cNvPicPr>
          <p:nvPr/>
        </p:nvPicPr>
        <p:blipFill>
          <a:blip r:embed="rId2"/>
          <a:stretch>
            <a:fillRect/>
          </a:stretch>
        </p:blipFill>
        <p:spPr>
          <a:xfrm>
            <a:off x="4722876" y="2162556"/>
            <a:ext cx="384048" cy="384048"/>
          </a:xfrm>
          <a:prstGeom prst="rect">
            <a:avLst/>
          </a:prstGeom>
        </p:spPr>
      </p:pic>
      <p:sp>
        <p:nvSpPr>
          <p:cNvPr id="12" name="Text 8"/>
          <p:cNvSpPr txBox="1"/>
          <p:nvPr/>
        </p:nvSpPr>
        <p:spPr>
          <a:xfrm>
            <a:off x="4572000" y="2880360"/>
            <a:ext cx="2926080" cy="457200"/>
          </a:xfrm>
          <a:prstGeom prst="rect">
            <a:avLst/>
          </a:prstGeom>
          <a:noFill/>
          <a:ln/>
        </p:spPr>
        <p:txBody>
          <a:bodyPr wrap="square" lIns="0" tIns="0" rIns="0" bIns="0" rtlCol="0" anchor="t"/>
          <a:lstStyle/>
          <a:p>
            <a:pPr indent="0" marL="0">
              <a:buNone/>
            </a:pPr>
            <a:r>
              <a:rPr lang="en-US" sz="2000" b="1" dirty="0">
                <a:solidFill>
                  <a:schemeClr val="tx2"/>
                </a:solidFill>
              </a:rPr>
              <a:t>2  Open the code</a:t>
            </a:r>
            <a:endParaRPr lang="en-US" sz="2000" dirty="0"/>
          </a:p>
        </p:txBody>
      </p:sp>
      <p:sp>
        <p:nvSpPr>
          <p:cNvPr id="13" name="Text 9"/>
          <p:cNvSpPr txBox="1"/>
          <p:nvPr/>
        </p:nvSpPr>
        <p:spPr>
          <a:xfrm>
            <a:off x="4572000" y="3474720"/>
            <a:ext cx="29260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Cem's GitHub repo EE493-TUBITAK</a:t>
            </a:r>
            <a:endParaRPr lang="en-US" sz="1400" dirty="0"/>
          </a:p>
          <a:p>
            <a:pPr marL="342900" indent="-342900">
              <a:spcAft>
                <a:spcPts val="800"/>
              </a:spcAft>
              <a:buSzPct val="100000"/>
              <a:buChar char="•"/>
            </a:pPr>
            <a:r>
              <a:rPr lang="en-US" sz="1400" dirty="0">
                <a:solidFill>
                  <a:schemeClr val="tx1"/>
                </a:solidFill>
              </a:rPr>
              <a:t>Branch dataset1-classical-eval (or main after the merge)</a:t>
            </a:r>
            <a:endParaRPr lang="en-US" sz="1400" dirty="0"/>
          </a:p>
          <a:p>
            <a:pPr marL="342900" indent="-342900">
              <a:spcAft>
                <a:spcPts val="800"/>
              </a:spcAft>
              <a:buSzPct val="100000"/>
              <a:buChar char="•"/>
            </a:pPr>
            <a:r>
              <a:rPr lang="en-US" sz="1400" dirty="0">
                <a:solidFill>
                  <a:schemeClr val="tx1"/>
                </a:solidFill>
              </a:rPr>
              <a:t>Folder Cem-Ege/dataset1_eval: start with README.md</a:t>
            </a:r>
            <a:endParaRPr lang="en-US" sz="1400" dirty="0"/>
          </a:p>
        </p:txBody>
      </p:sp>
      <p:sp>
        <p:nvSpPr>
          <p:cNvPr id="14" name="guide 3"/>
          <p:cNvSpPr/>
          <p:nvPr/>
        </p:nvSpPr>
        <p:spPr>
          <a:xfrm>
            <a:off x="8046720" y="1737360"/>
            <a:ext cx="3474720" cy="4206240"/>
          </a:xfrm>
          <a:prstGeom prst="roundRect">
            <a:avLst>
              <a:gd name="adj" fmla="val 2105"/>
            </a:avLst>
          </a:prstGeom>
          <a:solidFill>
            <a:schemeClr val="bg2"/>
          </a:solidFill>
          <a:ln/>
        </p:spPr>
      </p:sp>
      <p:sp>
        <p:nvSpPr>
          <p:cNvPr id="15" name="3  Shape your talk circle"/>
          <p:cNvSpPr/>
          <p:nvPr/>
        </p:nvSpPr>
        <p:spPr>
          <a:xfrm>
            <a:off x="8321040" y="2011680"/>
            <a:ext cx="685800" cy="685800"/>
          </a:xfrm>
          <a:prstGeom prst="ellipse">
            <a:avLst/>
          </a:prstGeom>
          <a:solidFill>
            <a:schemeClr val="accent1"/>
          </a:solidFill>
          <a:ln/>
        </p:spPr>
      </p:sp>
      <p:pic>
        <p:nvPicPr>
          <p:cNvPr id="16" name="3  Shape your talk icon" descr="3  Shape your talk">    </p:cNvPr>
          <p:cNvPicPr>
            <a:picLocks noChangeAspect="1"/>
          </p:cNvPicPr>
          <p:nvPr/>
        </p:nvPicPr>
        <p:blipFill>
          <a:blip r:embed="rId3"/>
          <a:stretch>
            <a:fillRect/>
          </a:stretch>
        </p:blipFill>
        <p:spPr>
          <a:xfrm>
            <a:off x="8471916" y="2162556"/>
            <a:ext cx="384048" cy="384048"/>
          </a:xfrm>
          <a:prstGeom prst="rect">
            <a:avLst/>
          </a:prstGeom>
        </p:spPr>
      </p:pic>
      <p:sp>
        <p:nvSpPr>
          <p:cNvPr id="17" name="Text 12"/>
          <p:cNvSpPr txBox="1"/>
          <p:nvPr/>
        </p:nvSpPr>
        <p:spPr>
          <a:xfrm>
            <a:off x="8321040" y="2880360"/>
            <a:ext cx="2926080" cy="457200"/>
          </a:xfrm>
          <a:prstGeom prst="rect">
            <a:avLst/>
          </a:prstGeom>
          <a:noFill/>
          <a:ln/>
        </p:spPr>
        <p:txBody>
          <a:bodyPr wrap="square" lIns="0" tIns="0" rIns="0" bIns="0" rtlCol="0" anchor="t"/>
          <a:lstStyle/>
          <a:p>
            <a:pPr indent="0" marL="0">
              <a:buNone/>
            </a:pPr>
            <a:r>
              <a:rPr lang="en-US" sz="2000" b="1" dirty="0">
                <a:solidFill>
                  <a:schemeClr val="tx2"/>
                </a:solidFill>
              </a:rPr>
              <a:t>3  Shape your talk</a:t>
            </a:r>
            <a:endParaRPr lang="en-US" sz="2000" dirty="0"/>
          </a:p>
        </p:txBody>
      </p:sp>
      <p:sp>
        <p:nvSpPr>
          <p:cNvPr id="18" name="Text 13"/>
          <p:cNvSpPr txBox="1"/>
          <p:nvPr/>
        </p:nvSpPr>
        <p:spPr>
          <a:xfrm>
            <a:off x="8321040" y="3474720"/>
            <a:ext cx="292608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Keep the story: what we built → how it plugs in → results → next steps</a:t>
            </a:r>
            <a:endParaRPr lang="en-US" sz="1400" dirty="0"/>
          </a:p>
          <a:p>
            <a:pPr marL="342900" indent="-342900">
              <a:spcAft>
                <a:spcPts val="800"/>
              </a:spcAft>
              <a:buSzPct val="100000"/>
              <a:buChar char="•"/>
            </a:pPr>
            <a:r>
              <a:rPr lang="en-US" sz="1400" dirty="0">
                <a:solidFill>
                  <a:schemeClr val="tx1"/>
                </a:solidFill>
              </a:rPr>
              <a:t>Every number here comes from results/*.json in that folder; slide 23 shows where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371600"/>
          </a:xfrm>
          <a:prstGeom prst="rect">
            <a:avLst/>
          </a:prstGeom>
          <a:noFill/>
          <a:ln/>
        </p:spPr>
        <p:txBody>
          <a:bodyPr wrap="square" lIns="0" tIns="0" rIns="0" bIns="0" rtlCol="0" anchor="b"/>
          <a:lstStyle/>
          <a:p>
            <a:pPr algn="l" indent="0" marL="0">
              <a:buNone/>
            </a:pPr>
            <a:r>
              <a:rPr lang="en-US" sz="4400" b="1" dirty="0">
                <a:solidFill>
                  <a:schemeClr val="bg1"/>
                </a:solidFill>
              </a:rPr>
              <a:t>Classical baseline on Dataset 1</a:t>
            </a:r>
            <a:endParaRPr lang="en-US" sz="4400" dirty="0"/>
          </a:p>
        </p:txBody>
      </p:sp>
      <p:sp>
        <p:nvSpPr>
          <p:cNvPr id="3" name="Text 0"/>
          <p:cNvSpPr/>
          <p:nvPr>
            <p:ph idx="101" type="body" hasCustomPrompt="1"/>
          </p:nvPr>
        </p:nvSpPr>
        <p:spPr>
          <a:xfrm>
            <a:off x="731520" y="3566160"/>
            <a:ext cx="10698480" cy="1463040"/>
          </a:xfrm>
          <a:prstGeom prst="rect">
            <a:avLst/>
          </a:prstGeom>
          <a:noFill/>
          <a:ln/>
        </p:spPr>
        <p:txBody>
          <a:bodyPr wrap="square" lIns="0" tIns="0" rIns="0" bIns="0" rtlCol="0" anchor="t"/>
          <a:lstStyle/>
          <a:p>
            <a:pPr indent="0" marL="0">
              <a:buNone/>
            </a:pPr>
            <a:r>
              <a:rPr lang="en-US" sz="1800" dirty="0">
                <a:solidFill>
                  <a:schemeClr val="bg2"/>
                </a:solidFill>
              </a:rPr>
              <a:t>What we built, how it plugs into Cem and Ege's methods, and what the results show</a:t>
            </a:r>
            <a:endParaRPr lang="en-US" sz="1800" dirty="0"/>
          </a:p>
          <a:p>
            <a:pPr indent="0" marL="0">
              <a:buNone/>
            </a:pPr>
            <a:r>
              <a:rPr lang="en-US" sz="1800" dirty="0">
                <a:solidFill>
                  <a:schemeClr val="bg2"/>
                </a:solidFill>
              </a:rPr>
              <a:t>EEE 493/494  ·  TÜBİTAK BİLGEM İLTAREN  ·  October 2026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project in one picture</a:t>
            </a:r>
            <a:endParaRPr lang="en-US" sz="3200" dirty="0"/>
          </a:p>
        </p:txBody>
      </p:sp>
      <p:sp>
        <p:nvSpPr>
          <p:cNvPr id="3" name="box Our dataset"/>
          <p:cNvSpPr/>
          <p:nvPr/>
        </p:nvSpPr>
        <p:spPr>
          <a:xfrm>
            <a:off x="548640" y="1371600"/>
            <a:ext cx="2423160" cy="3749040"/>
          </a:xfrm>
          <a:prstGeom prst="roundRect">
            <a:avLst>
              <a:gd name="adj" fmla="val 3019"/>
            </a:avLst>
          </a:prstGeom>
          <a:solidFill>
            <a:schemeClr val="bg2"/>
          </a:solidFill>
          <a:ln/>
        </p:spPr>
      </p:sp>
      <p:sp>
        <p:nvSpPr>
          <p:cNvPr id="4" name="Our dataset circle"/>
          <p:cNvSpPr/>
          <p:nvPr/>
        </p:nvSpPr>
        <p:spPr>
          <a:xfrm>
            <a:off x="777240" y="1600200"/>
            <a:ext cx="640080" cy="640080"/>
          </a:xfrm>
          <a:prstGeom prst="ellipse">
            <a:avLst/>
          </a:prstGeom>
          <a:solidFill>
            <a:schemeClr val="accent1"/>
          </a:solidFill>
          <a:ln/>
        </p:spPr>
      </p:sp>
      <p:pic>
        <p:nvPicPr>
          <p:cNvPr id="5" name="Our dataset icon" descr="Our dataset">    </p:cNvPr>
          <p:cNvPicPr>
            <a:picLocks noChangeAspect="1"/>
          </p:cNvPicPr>
          <p:nvPr/>
        </p:nvPicPr>
        <p:blipFill>
          <a:blip r:embed="rId1"/>
          <a:stretch>
            <a:fillRect/>
          </a:stretch>
        </p:blipFill>
        <p:spPr>
          <a:xfrm>
            <a:off x="918058" y="1741018"/>
            <a:ext cx="358445" cy="358445"/>
          </a:xfrm>
          <a:prstGeom prst="rect">
            <a:avLst/>
          </a:prstGeom>
        </p:spPr>
      </p:pic>
      <p:sp>
        <p:nvSpPr>
          <p:cNvPr id="6" name="Text 3"/>
          <p:cNvSpPr txBox="1"/>
          <p:nvPr/>
        </p:nvSpPr>
        <p:spPr>
          <a:xfrm>
            <a:off x="777240" y="2331720"/>
            <a:ext cx="1965960" cy="685800"/>
          </a:xfrm>
          <a:prstGeom prst="rect">
            <a:avLst/>
          </a:prstGeom>
          <a:noFill/>
          <a:ln/>
        </p:spPr>
        <p:txBody>
          <a:bodyPr wrap="square" lIns="0" tIns="0" rIns="0" bIns="0" rtlCol="0" anchor="ctr"/>
          <a:lstStyle/>
          <a:p>
            <a:pPr indent="0" marL="0">
              <a:buNone/>
            </a:pPr>
            <a:r>
              <a:rPr lang="en-US" sz="1800" b="1" dirty="0">
                <a:solidFill>
                  <a:schemeClr val="tx2"/>
                </a:solidFill>
              </a:rPr>
              <a:t>Our dataset</a:t>
            </a:r>
            <a:endParaRPr lang="en-US" sz="1800" dirty="0"/>
          </a:p>
        </p:txBody>
      </p:sp>
      <p:sp>
        <p:nvSpPr>
          <p:cNvPr id="7" name="Text 4"/>
          <p:cNvSpPr txBox="1"/>
          <p:nvPr/>
        </p:nvSpPr>
        <p:spPr>
          <a:xfrm>
            <a:off x="777240" y="3108960"/>
            <a:ext cx="19659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synthetic/make_synth_v3.py</a:t>
            </a:r>
            <a:endParaRPr lang="en-US" sz="1300" dirty="0"/>
          </a:p>
          <a:p>
            <a:pPr marL="342900" indent="-342900">
              <a:spcAft>
                <a:spcPts val="600"/>
              </a:spcAft>
              <a:buSzPct val="100000"/>
              <a:buChar char="•"/>
            </a:pPr>
            <a:r>
              <a:rPr lang="en-US" sz="1300" dirty="0">
                <a:solidFill>
                  <a:schemeClr val="tx1"/>
                </a:solidFill>
              </a:rPr>
              <a:t>224,000 clips, 14 classes, −10 to +20 dB</a:t>
            </a:r>
            <a:endParaRPr lang="en-US" sz="1300" dirty="0"/>
          </a:p>
          <a:p>
            <a:pPr marL="342900" indent="-342900">
              <a:spcAft>
                <a:spcPts val="600"/>
              </a:spcAft>
              <a:buSzPct val="100000"/>
              <a:buChar char="•"/>
            </a:pPr>
            <a:r>
              <a:rPr lang="en-US" sz="1300" dirty="0">
                <a:solidFill>
                  <a:schemeClr val="tx1"/>
                </a:solidFill>
              </a:rPr>
              <a:t>Not in Git: rebuilt from seed 2026</a:t>
            </a:r>
            <a:endParaRPr lang="en-US" sz="1300" dirty="0"/>
          </a:p>
        </p:txBody>
      </p:sp>
      <p:sp>
        <p:nvSpPr>
          <p:cNvPr id="8" name="arrow"/>
          <p:cNvSpPr/>
          <p:nvPr/>
        </p:nvSpPr>
        <p:spPr>
          <a:xfrm>
            <a:off x="3044952" y="3246120"/>
            <a:ext cx="356616" cy="0"/>
          </a:xfrm>
          <a:prstGeom prst="line">
            <a:avLst/>
          </a:prstGeom>
          <a:noFill/>
          <a:ln w="31750">
            <a:solidFill>
              <a:schemeClr val="accent3"/>
            </a:solidFill>
            <a:prstDash val="solid"/>
            <a:tailEnd type="triangle"/>
          </a:ln>
        </p:spPr>
      </p:sp>
      <p:sp>
        <p:nvSpPr>
          <p:cNvPr id="9" name="box Our scripts (new)"/>
          <p:cNvSpPr/>
          <p:nvPr/>
        </p:nvSpPr>
        <p:spPr>
          <a:xfrm>
            <a:off x="3474720" y="1371600"/>
            <a:ext cx="2423160" cy="3749040"/>
          </a:xfrm>
          <a:prstGeom prst="roundRect">
            <a:avLst>
              <a:gd name="adj" fmla="val 3019"/>
            </a:avLst>
          </a:prstGeom>
          <a:solidFill>
            <a:schemeClr val="bg2"/>
          </a:solidFill>
          <a:ln/>
        </p:spPr>
      </p:sp>
      <p:sp>
        <p:nvSpPr>
          <p:cNvPr id="10" name="Our scripts (new) circle"/>
          <p:cNvSpPr/>
          <p:nvPr/>
        </p:nvSpPr>
        <p:spPr>
          <a:xfrm>
            <a:off x="3703320" y="1600200"/>
            <a:ext cx="640080" cy="640080"/>
          </a:xfrm>
          <a:prstGeom prst="ellipse">
            <a:avLst/>
          </a:prstGeom>
          <a:solidFill>
            <a:schemeClr val="accent1"/>
          </a:solidFill>
          <a:ln/>
        </p:spPr>
      </p:sp>
      <p:pic>
        <p:nvPicPr>
          <p:cNvPr id="11" name="Our scripts (new) icon" descr="Our scripts (new)">    </p:cNvPr>
          <p:cNvPicPr>
            <a:picLocks noChangeAspect="1"/>
          </p:cNvPicPr>
          <p:nvPr/>
        </p:nvPicPr>
        <p:blipFill>
          <a:blip r:embed="rId2"/>
          <a:stretch>
            <a:fillRect/>
          </a:stretch>
        </p:blipFill>
        <p:spPr>
          <a:xfrm>
            <a:off x="3844138" y="1741018"/>
            <a:ext cx="358445" cy="358445"/>
          </a:xfrm>
          <a:prstGeom prst="rect">
            <a:avLst/>
          </a:prstGeom>
        </p:spPr>
      </p:pic>
      <p:sp>
        <p:nvSpPr>
          <p:cNvPr id="12" name="Text 8"/>
          <p:cNvSpPr txBox="1"/>
          <p:nvPr/>
        </p:nvSpPr>
        <p:spPr>
          <a:xfrm>
            <a:off x="3703320" y="2331720"/>
            <a:ext cx="1965960" cy="685800"/>
          </a:xfrm>
          <a:prstGeom prst="rect">
            <a:avLst/>
          </a:prstGeom>
          <a:noFill/>
          <a:ln/>
        </p:spPr>
        <p:txBody>
          <a:bodyPr wrap="square" lIns="0" tIns="0" rIns="0" bIns="0" rtlCol="0" anchor="ctr"/>
          <a:lstStyle/>
          <a:p>
            <a:pPr indent="0" marL="0">
              <a:buNone/>
            </a:pPr>
            <a:r>
              <a:rPr lang="en-US" sz="1800" b="1" dirty="0">
                <a:solidFill>
                  <a:schemeClr val="tx2"/>
                </a:solidFill>
              </a:rPr>
              <a:t>Our scripts (new)</a:t>
            </a:r>
            <a:endParaRPr lang="en-US" sz="1800" dirty="0"/>
          </a:p>
        </p:txBody>
      </p:sp>
      <p:sp>
        <p:nvSpPr>
          <p:cNvPr id="13" name="Text 9"/>
          <p:cNvSpPr txBox="1"/>
          <p:nvPr/>
        </p:nvSpPr>
        <p:spPr>
          <a:xfrm>
            <a:off x="3703320" y="3108960"/>
            <a:ext cx="19659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Cem-Ege/dataset1_eval/</a:t>
            </a:r>
            <a:endParaRPr lang="en-US" sz="1300" dirty="0"/>
          </a:p>
          <a:p>
            <a:pPr marL="342900" indent="-342900">
              <a:spcAft>
                <a:spcPts val="600"/>
              </a:spcAft>
              <a:buSzPct val="100000"/>
              <a:buChar char="•"/>
            </a:pPr>
            <a:r>
              <a:rPr lang="en-US" sz="1300" dirty="0">
                <a:solidFill>
                  <a:schemeClr val="tx1"/>
                </a:solidFill>
              </a:rPr>
              <a:t>Load clips, call their methods, score the answers</a:t>
            </a:r>
            <a:endParaRPr lang="en-US" sz="1300" dirty="0"/>
          </a:p>
          <a:p>
            <a:pPr marL="342900" indent="-342900">
              <a:spcAft>
                <a:spcPts val="600"/>
              </a:spcAft>
              <a:buSzPct val="100000"/>
              <a:buChar char="•"/>
            </a:pPr>
            <a:r>
              <a:rPr lang="en-US" sz="1300" dirty="0">
                <a:solidFill>
                  <a:schemeClr val="tx1"/>
                </a:solidFill>
              </a:rPr>
              <a:t>9 files, about 1.5 h to run</a:t>
            </a:r>
            <a:endParaRPr lang="en-US" sz="1300" dirty="0"/>
          </a:p>
        </p:txBody>
      </p:sp>
      <p:sp>
        <p:nvSpPr>
          <p:cNvPr id="14" name="arrow"/>
          <p:cNvSpPr/>
          <p:nvPr/>
        </p:nvSpPr>
        <p:spPr>
          <a:xfrm>
            <a:off x="5971032" y="3246120"/>
            <a:ext cx="356616" cy="0"/>
          </a:xfrm>
          <a:prstGeom prst="line">
            <a:avLst/>
          </a:prstGeom>
          <a:noFill/>
          <a:ln w="31750">
            <a:solidFill>
              <a:schemeClr val="accent3"/>
            </a:solidFill>
            <a:prstDash val="solid"/>
            <a:tailEnd type="triangle"/>
          </a:ln>
        </p:spPr>
      </p:sp>
      <p:sp>
        <p:nvSpPr>
          <p:cNvPr id="15" name="box Cem and Ege's methods"/>
          <p:cNvSpPr/>
          <p:nvPr/>
        </p:nvSpPr>
        <p:spPr>
          <a:xfrm>
            <a:off x="6400800" y="1371600"/>
            <a:ext cx="2423160" cy="3749040"/>
          </a:xfrm>
          <a:prstGeom prst="roundRect">
            <a:avLst>
              <a:gd name="adj" fmla="val 3019"/>
            </a:avLst>
          </a:prstGeom>
          <a:solidFill>
            <a:schemeClr val="bg2"/>
          </a:solidFill>
          <a:ln/>
        </p:spPr>
      </p:sp>
      <p:sp>
        <p:nvSpPr>
          <p:cNvPr id="16" name="Cem and Ege's methods circle"/>
          <p:cNvSpPr/>
          <p:nvPr/>
        </p:nvSpPr>
        <p:spPr>
          <a:xfrm>
            <a:off x="6629400" y="1600200"/>
            <a:ext cx="640080" cy="640080"/>
          </a:xfrm>
          <a:prstGeom prst="ellipse">
            <a:avLst/>
          </a:prstGeom>
          <a:solidFill>
            <a:schemeClr val="accent1"/>
          </a:solidFill>
          <a:ln/>
        </p:spPr>
      </p:sp>
      <p:pic>
        <p:nvPicPr>
          <p:cNvPr id="17" name="Cem and Ege's methods icon" descr="Cem and Ege's methods">    </p:cNvPr>
          <p:cNvPicPr>
            <a:picLocks noChangeAspect="1"/>
          </p:cNvPicPr>
          <p:nvPr/>
        </p:nvPicPr>
        <p:blipFill>
          <a:blip r:embed="rId3"/>
          <a:stretch>
            <a:fillRect/>
          </a:stretch>
        </p:blipFill>
        <p:spPr>
          <a:xfrm>
            <a:off x="6770218" y="1741018"/>
            <a:ext cx="358445" cy="358445"/>
          </a:xfrm>
          <a:prstGeom prst="rect">
            <a:avLst/>
          </a:prstGeom>
        </p:spPr>
      </p:pic>
      <p:sp>
        <p:nvSpPr>
          <p:cNvPr id="18" name="Text 13"/>
          <p:cNvSpPr txBox="1"/>
          <p:nvPr/>
        </p:nvSpPr>
        <p:spPr>
          <a:xfrm>
            <a:off x="6629400" y="2331720"/>
            <a:ext cx="1965960" cy="685800"/>
          </a:xfrm>
          <a:prstGeom prst="rect">
            <a:avLst/>
          </a:prstGeom>
          <a:noFill/>
          <a:ln/>
        </p:spPr>
        <p:txBody>
          <a:bodyPr wrap="square" lIns="0" tIns="0" rIns="0" bIns="0" rtlCol="0" anchor="ctr"/>
          <a:lstStyle/>
          <a:p>
            <a:pPr indent="0" marL="0">
              <a:buNone/>
            </a:pPr>
            <a:r>
              <a:rPr lang="en-US" sz="1800" b="1" dirty="0">
                <a:solidFill>
                  <a:schemeClr val="tx2"/>
                </a:solidFill>
              </a:rPr>
              <a:t>Cem and Ege's methods</a:t>
            </a:r>
            <a:endParaRPr lang="en-US" sz="1800" dirty="0"/>
          </a:p>
        </p:txBody>
      </p:sp>
      <p:sp>
        <p:nvSpPr>
          <p:cNvPr id="19" name="Text 14"/>
          <p:cNvSpPr txBox="1"/>
          <p:nvPr/>
        </p:nvSpPr>
        <p:spPr>
          <a:xfrm>
            <a:off x="6629400" y="3108960"/>
            <a:ext cx="19659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Identification, detection, characterization</a:t>
            </a:r>
            <a:endParaRPr lang="en-US" sz="1300" dirty="0"/>
          </a:p>
          <a:p>
            <a:pPr marL="342900" indent="-342900">
              <a:spcAft>
                <a:spcPts val="600"/>
              </a:spcAft>
              <a:buSzPct val="100000"/>
              <a:buChar char="•"/>
            </a:pPr>
            <a:r>
              <a:rPr lang="en-US" sz="1300" dirty="0">
                <a:solidFill>
                  <a:schemeClr val="tx1"/>
                </a:solidFill>
              </a:rPr>
              <a:t>Built for RadioML and TorchSig</a:t>
            </a:r>
            <a:endParaRPr lang="en-US" sz="1300" dirty="0"/>
          </a:p>
          <a:p>
            <a:pPr marL="342900" indent="-342900">
              <a:spcAft>
                <a:spcPts val="600"/>
              </a:spcAft>
              <a:buSzPct val="100000"/>
              <a:buChar char="•"/>
            </a:pPr>
            <a:r>
              <a:rPr lang="en-US" sz="1300" dirty="0">
                <a:solidFill>
                  <a:schemeClr val="tx1"/>
                </a:solidFill>
              </a:rPr>
              <a:t>Imported, never edited</a:t>
            </a:r>
            <a:endParaRPr lang="en-US" sz="1300" dirty="0"/>
          </a:p>
        </p:txBody>
      </p:sp>
      <p:sp>
        <p:nvSpPr>
          <p:cNvPr id="20" name="arrow"/>
          <p:cNvSpPr/>
          <p:nvPr/>
        </p:nvSpPr>
        <p:spPr>
          <a:xfrm>
            <a:off x="8897112" y="3246120"/>
            <a:ext cx="356616" cy="0"/>
          </a:xfrm>
          <a:prstGeom prst="line">
            <a:avLst/>
          </a:prstGeom>
          <a:noFill/>
          <a:ln w="31750">
            <a:solidFill>
              <a:schemeClr val="accent3"/>
            </a:solidFill>
            <a:prstDash val="solid"/>
            <a:tailEnd type="triangle"/>
          </a:ln>
        </p:spPr>
      </p:sp>
      <p:sp>
        <p:nvSpPr>
          <p:cNvPr id="21" name="box Results"/>
          <p:cNvSpPr/>
          <p:nvPr/>
        </p:nvSpPr>
        <p:spPr>
          <a:xfrm>
            <a:off x="9326880" y="1371600"/>
            <a:ext cx="2423160" cy="3749040"/>
          </a:xfrm>
          <a:prstGeom prst="roundRect">
            <a:avLst>
              <a:gd name="adj" fmla="val 3019"/>
            </a:avLst>
          </a:prstGeom>
          <a:solidFill>
            <a:schemeClr val="bg2"/>
          </a:solidFill>
          <a:ln/>
        </p:spPr>
      </p:sp>
      <p:sp>
        <p:nvSpPr>
          <p:cNvPr id="22" name="Results circle"/>
          <p:cNvSpPr/>
          <p:nvPr/>
        </p:nvSpPr>
        <p:spPr>
          <a:xfrm>
            <a:off x="9555480" y="1600200"/>
            <a:ext cx="640080" cy="640080"/>
          </a:xfrm>
          <a:prstGeom prst="ellipse">
            <a:avLst/>
          </a:prstGeom>
          <a:solidFill>
            <a:schemeClr val="accent1"/>
          </a:solidFill>
          <a:ln/>
        </p:spPr>
      </p:sp>
      <p:pic>
        <p:nvPicPr>
          <p:cNvPr id="23" name="Results icon" descr="Results">    </p:cNvPr>
          <p:cNvPicPr>
            <a:picLocks noChangeAspect="1"/>
          </p:cNvPicPr>
          <p:nvPr/>
        </p:nvPicPr>
        <p:blipFill>
          <a:blip r:embed="rId4"/>
          <a:stretch>
            <a:fillRect/>
          </a:stretch>
        </p:blipFill>
        <p:spPr>
          <a:xfrm>
            <a:off x="9696298" y="1741018"/>
            <a:ext cx="358445" cy="358445"/>
          </a:xfrm>
          <a:prstGeom prst="rect">
            <a:avLst/>
          </a:prstGeom>
        </p:spPr>
      </p:pic>
      <p:sp>
        <p:nvSpPr>
          <p:cNvPr id="24" name="Text 18"/>
          <p:cNvSpPr txBox="1"/>
          <p:nvPr/>
        </p:nvSpPr>
        <p:spPr>
          <a:xfrm>
            <a:off x="9555480" y="2331720"/>
            <a:ext cx="1965960" cy="685800"/>
          </a:xfrm>
          <a:prstGeom prst="rect">
            <a:avLst/>
          </a:prstGeom>
          <a:noFill/>
          <a:ln/>
        </p:spPr>
        <p:txBody>
          <a:bodyPr wrap="square" lIns="0" tIns="0" rIns="0" bIns="0" rtlCol="0" anchor="ctr"/>
          <a:lstStyle/>
          <a:p>
            <a:pPr indent="0" marL="0">
              <a:buNone/>
            </a:pPr>
            <a:r>
              <a:rPr lang="en-US" sz="1800" b="1" dirty="0">
                <a:solidFill>
                  <a:schemeClr val="tx2"/>
                </a:solidFill>
              </a:rPr>
              <a:t>Results</a:t>
            </a:r>
            <a:endParaRPr lang="en-US" sz="1800" dirty="0"/>
          </a:p>
        </p:txBody>
      </p:sp>
      <p:sp>
        <p:nvSpPr>
          <p:cNvPr id="25" name="Text 19"/>
          <p:cNvSpPr txBox="1"/>
          <p:nvPr/>
        </p:nvSpPr>
        <p:spPr>
          <a:xfrm>
            <a:off x="9555480" y="3108960"/>
            <a:ext cx="196596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JSON metrics, CSV tables, PNG figures</a:t>
            </a:r>
            <a:endParaRPr lang="en-US" sz="1300" dirty="0"/>
          </a:p>
          <a:p>
            <a:pPr marL="342900" indent="-342900">
              <a:spcAft>
                <a:spcPts val="600"/>
              </a:spcAft>
              <a:buSzPct val="100000"/>
              <a:buChar char="•"/>
            </a:pPr>
            <a:r>
              <a:rPr lang="en-US" sz="1300" dirty="0">
                <a:solidFill>
                  <a:schemeClr val="tx1"/>
                </a:solidFill>
              </a:rPr>
              <a:t>Per modulation and per SNR</a:t>
            </a:r>
            <a:endParaRPr lang="en-US" sz="1300" dirty="0"/>
          </a:p>
          <a:p>
            <a:pPr marL="342900" indent="-342900">
              <a:spcAft>
                <a:spcPts val="600"/>
              </a:spcAft>
              <a:buSzPct val="100000"/>
              <a:buChar char="•"/>
            </a:pPr>
            <a:r>
              <a:rPr lang="en-US" sz="1300" dirty="0">
                <a:solidFill>
                  <a:schemeClr val="tx1"/>
                </a:solidFill>
              </a:rPr>
              <a:t>This deck and the report</a:t>
            </a:r>
            <a:endParaRPr lang="en-US" sz="1300" dirty="0"/>
          </a:p>
        </p:txBody>
      </p:sp>
      <p:sp>
        <p:nvSpPr>
          <p:cNvPr id="26" name="rule card"/>
          <p:cNvSpPr/>
          <p:nvPr/>
        </p:nvSpPr>
        <p:spPr>
          <a:xfrm>
            <a:off x="548640" y="5303520"/>
            <a:ext cx="11064240" cy="777240"/>
          </a:xfrm>
          <a:prstGeom prst="roundRect">
            <a:avLst>
              <a:gd name="adj" fmla="val 9412"/>
            </a:avLst>
          </a:prstGeom>
          <a:solidFill>
            <a:srgbClr val="EAF1F2"/>
          </a:solidFill>
          <a:ln/>
        </p:spPr>
      </p:sp>
      <p:sp>
        <p:nvSpPr>
          <p:cNvPr id="27" name="Text 21"/>
          <p:cNvSpPr txBox="1"/>
          <p:nvPr/>
        </p:nvSpPr>
        <p:spPr>
          <a:xfrm>
            <a:off x="822960" y="5303520"/>
            <a:ext cx="10515600" cy="777240"/>
          </a:xfrm>
          <a:prstGeom prst="rect">
            <a:avLst/>
          </a:prstGeom>
          <a:noFill/>
          <a:ln/>
        </p:spPr>
        <p:txBody>
          <a:bodyPr wrap="square" lIns="0" tIns="0" rIns="0" bIns="0" rtlCol="0" anchor="ctr"/>
          <a:lstStyle/>
          <a:p>
            <a:pPr indent="0" marL="0">
              <a:buNone/>
            </a:pPr>
            <a:r>
              <a:rPr lang="en-US" sz="1600" b="1" dirty="0">
                <a:solidFill>
                  <a:schemeClr val="accent1"/>
                </a:solidFill>
              </a:rPr>
              <a:t>Rule we followed: </a:t>
            </a:r>
            <a:pPr indent="0" marL="0">
              <a:buNone/>
            </a:pPr>
            <a:r>
              <a:rPr lang="en-US" sz="1600" dirty="0">
                <a:solidFill>
                  <a:schemeClr val="tx1"/>
                </a:solidFill>
              </a:rPr>
              <a:t>Cem and Ege's code is imported and never edited. Everything new lives in one folder, Cem-Ege/dataset1_eval.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What we did, in four steps</a:t>
            </a:r>
            <a:endParaRPr lang="en-US" sz="3200" dirty="0"/>
          </a:p>
        </p:txBody>
      </p:sp>
      <p:sp>
        <p:nvSpPr>
          <p:cNvPr id="3" name="step 1"/>
          <p:cNvSpPr/>
          <p:nvPr/>
        </p:nvSpPr>
        <p:spPr>
          <a:xfrm>
            <a:off x="548640" y="1554480"/>
            <a:ext cx="731520" cy="7315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4" name="arrow"/>
          <p:cNvSpPr/>
          <p:nvPr/>
        </p:nvSpPr>
        <p:spPr>
          <a:xfrm>
            <a:off x="1417320" y="1920240"/>
            <a:ext cx="1874520" cy="0"/>
          </a:xfrm>
          <a:prstGeom prst="line">
            <a:avLst/>
          </a:prstGeom>
          <a:noFill/>
          <a:ln w="31750">
            <a:solidFill>
              <a:schemeClr val="accent3"/>
            </a:solidFill>
            <a:prstDash val="solid"/>
            <a:tailEnd type="triangle"/>
          </a:ln>
        </p:spPr>
      </p:sp>
      <p:sp>
        <p:nvSpPr>
          <p:cNvPr id="5" name="Text 3"/>
          <p:cNvSpPr txBox="1"/>
          <p:nvPr/>
        </p:nvSpPr>
        <p:spPr>
          <a:xfrm>
            <a:off x="548640" y="2514600"/>
            <a:ext cx="2560320" cy="731520"/>
          </a:xfrm>
          <a:prstGeom prst="rect">
            <a:avLst/>
          </a:prstGeom>
          <a:noFill/>
          <a:ln/>
        </p:spPr>
        <p:txBody>
          <a:bodyPr wrap="square" lIns="0" tIns="0" rIns="0" bIns="0" rtlCol="0" anchor="t"/>
          <a:lstStyle/>
          <a:p>
            <a:pPr indent="0" marL="0">
              <a:buNone/>
            </a:pPr>
            <a:r>
              <a:rPr lang="en-US" sz="1900" b="1" dirty="0">
                <a:solidFill>
                  <a:schemeClr val="tx2"/>
                </a:solidFill>
              </a:rPr>
              <a:t>Rebuild the dataset</a:t>
            </a:r>
            <a:endParaRPr lang="en-US" sz="1900" dirty="0"/>
          </a:p>
        </p:txBody>
      </p:sp>
      <p:sp>
        <p:nvSpPr>
          <p:cNvPr id="6" name="Text 4"/>
          <p:cNvSpPr txBox="1"/>
          <p:nvPr/>
        </p:nvSpPr>
        <p:spPr>
          <a:xfrm>
            <a:off x="548640" y="3063240"/>
            <a:ext cx="2560320" cy="2194560"/>
          </a:xfrm>
          <a:prstGeom prst="rect">
            <a:avLst/>
          </a:prstGeom>
          <a:noFill/>
          <a:ln/>
        </p:spPr>
        <p:txBody>
          <a:bodyPr wrap="square" lIns="0" tIns="0" rIns="0" bIns="0" rtlCol="0" anchor="t"/>
          <a:lstStyle/>
          <a:p>
            <a:pPr indent="0" marL="0">
              <a:buNone/>
            </a:pPr>
            <a:r>
              <a:rPr lang="en-US" sz="1500" dirty="0">
                <a:solidFill>
                  <a:schemeClr val="tx1"/>
                </a:solidFill>
              </a:rPr>
              <a:t>Ran our generator with the fixed seed. The checker passes, and a second run gives a bit-identical file.</a:t>
            </a:r>
            <a:endParaRPr lang="en-US" sz="1500" dirty="0"/>
          </a:p>
        </p:txBody>
      </p:sp>
      <p:sp>
        <p:nvSpPr>
          <p:cNvPr id="7" name="step 2"/>
          <p:cNvSpPr/>
          <p:nvPr/>
        </p:nvSpPr>
        <p:spPr>
          <a:xfrm>
            <a:off x="3383280" y="1554480"/>
            <a:ext cx="731520" cy="7315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8" name="arrow"/>
          <p:cNvSpPr/>
          <p:nvPr/>
        </p:nvSpPr>
        <p:spPr>
          <a:xfrm>
            <a:off x="4251960" y="1920240"/>
            <a:ext cx="1874520" cy="0"/>
          </a:xfrm>
          <a:prstGeom prst="line">
            <a:avLst/>
          </a:prstGeom>
          <a:noFill/>
          <a:ln w="31750">
            <a:solidFill>
              <a:schemeClr val="accent3"/>
            </a:solidFill>
            <a:prstDash val="solid"/>
            <a:tailEnd type="triangle"/>
          </a:ln>
        </p:spPr>
      </p:sp>
      <p:sp>
        <p:nvSpPr>
          <p:cNvPr id="9" name="Text 7"/>
          <p:cNvSpPr txBox="1"/>
          <p:nvPr/>
        </p:nvSpPr>
        <p:spPr>
          <a:xfrm>
            <a:off x="3383280" y="2514600"/>
            <a:ext cx="2560320" cy="731520"/>
          </a:xfrm>
          <a:prstGeom prst="rect">
            <a:avLst/>
          </a:prstGeom>
          <a:noFill/>
          <a:ln/>
        </p:spPr>
        <p:txBody>
          <a:bodyPr wrap="square" lIns="0" tIns="0" rIns="0" bIns="0" rtlCol="0" anchor="t"/>
          <a:lstStyle/>
          <a:p>
            <a:pPr indent="0" marL="0">
              <a:buNone/>
            </a:pPr>
            <a:r>
              <a:rPr lang="en-US" sz="1900" b="1" dirty="0">
                <a:solidFill>
                  <a:schemeClr val="tx2"/>
                </a:solidFill>
              </a:rPr>
              <a:t>Compute features once</a:t>
            </a:r>
            <a:endParaRPr lang="en-US" sz="1900" dirty="0"/>
          </a:p>
        </p:txBody>
      </p:sp>
      <p:sp>
        <p:nvSpPr>
          <p:cNvPr id="10" name="Text 8"/>
          <p:cNvSpPr txBox="1"/>
          <p:nvPr/>
        </p:nvSpPr>
        <p:spPr>
          <a:xfrm>
            <a:off x="3383280" y="3063240"/>
            <a:ext cx="2560320" cy="2194560"/>
          </a:xfrm>
          <a:prstGeom prst="rect">
            <a:avLst/>
          </a:prstGeom>
          <a:noFill/>
          <a:ln/>
        </p:spPr>
        <p:txBody>
          <a:bodyPr wrap="square" lIns="0" tIns="0" rIns="0" bIns="0" rtlCol="0" anchor="t"/>
          <a:lstStyle/>
          <a:p>
            <a:pPr indent="0" marL="0">
              <a:buNone/>
            </a:pPr>
            <a:r>
              <a:rPr lang="en-US" sz="1500" dirty="0">
                <a:solidFill>
                  <a:schemeClr val="tx1"/>
                </a:solidFill>
              </a:rPr>
              <a:t>Turned every clip into numbers with Cem and Ege's feature code (19 basic, 24 wavelet, 8 entropy) and saved them.</a:t>
            </a:r>
            <a:endParaRPr lang="en-US" sz="1500" dirty="0"/>
          </a:p>
        </p:txBody>
      </p:sp>
      <p:sp>
        <p:nvSpPr>
          <p:cNvPr id="11" name="step 3"/>
          <p:cNvSpPr/>
          <p:nvPr/>
        </p:nvSpPr>
        <p:spPr>
          <a:xfrm>
            <a:off x="6217920" y="1554480"/>
            <a:ext cx="731520" cy="7315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2" name="arrow"/>
          <p:cNvSpPr/>
          <p:nvPr/>
        </p:nvSpPr>
        <p:spPr>
          <a:xfrm>
            <a:off x="7086600" y="1920240"/>
            <a:ext cx="1874520" cy="0"/>
          </a:xfrm>
          <a:prstGeom prst="line">
            <a:avLst/>
          </a:prstGeom>
          <a:noFill/>
          <a:ln w="31750">
            <a:solidFill>
              <a:schemeClr val="accent3"/>
            </a:solidFill>
            <a:prstDash val="solid"/>
            <a:tailEnd type="triangle"/>
          </a:ln>
        </p:spPr>
      </p:sp>
      <p:sp>
        <p:nvSpPr>
          <p:cNvPr id="13" name="Text 11"/>
          <p:cNvSpPr txBox="1"/>
          <p:nvPr/>
        </p:nvSpPr>
        <p:spPr>
          <a:xfrm>
            <a:off x="6217920" y="2514600"/>
            <a:ext cx="2560320" cy="731520"/>
          </a:xfrm>
          <a:prstGeom prst="rect">
            <a:avLst/>
          </a:prstGeom>
          <a:noFill/>
          <a:ln/>
        </p:spPr>
        <p:txBody>
          <a:bodyPr wrap="square" lIns="0" tIns="0" rIns="0" bIns="0" rtlCol="0" anchor="t"/>
          <a:lstStyle/>
          <a:p>
            <a:pPr indent="0" marL="0">
              <a:buNone/>
            </a:pPr>
            <a:r>
              <a:rPr lang="en-US" sz="1900" b="1" dirty="0">
                <a:solidFill>
                  <a:schemeClr val="tx2"/>
                </a:solidFill>
              </a:rPr>
              <a:t>Run every method</a:t>
            </a:r>
            <a:endParaRPr lang="en-US" sz="1900" dirty="0"/>
          </a:p>
        </p:txBody>
      </p:sp>
      <p:sp>
        <p:nvSpPr>
          <p:cNvPr id="14" name="Text 12"/>
          <p:cNvSpPr txBox="1"/>
          <p:nvPr/>
        </p:nvSpPr>
        <p:spPr>
          <a:xfrm>
            <a:off x="6217920" y="3063240"/>
            <a:ext cx="2560320" cy="2194560"/>
          </a:xfrm>
          <a:prstGeom prst="rect">
            <a:avLst/>
          </a:prstGeom>
          <a:noFill/>
          <a:ln/>
        </p:spPr>
        <p:txBody>
          <a:bodyPr wrap="square" lIns="0" tIns="0" rIns="0" bIns="0" rtlCol="0" anchor="t"/>
          <a:lstStyle/>
          <a:p>
            <a:pPr indent="0" marL="0">
              <a:buNone/>
            </a:pPr>
            <a:r>
              <a:rPr lang="en-US" sz="1500" dirty="0">
                <a:solidFill>
                  <a:schemeClr val="tx1"/>
                </a:solidFill>
              </a:rPr>
              <a:t>Trained on the train split (156,800 clips) and tested on the test split (33,600 clips) it never saw.</a:t>
            </a:r>
            <a:endParaRPr lang="en-US" sz="1500" dirty="0"/>
          </a:p>
        </p:txBody>
      </p:sp>
      <p:sp>
        <p:nvSpPr>
          <p:cNvPr id="15" name="step 4"/>
          <p:cNvSpPr/>
          <p:nvPr/>
        </p:nvSpPr>
        <p:spPr>
          <a:xfrm>
            <a:off x="9052560" y="1554480"/>
            <a:ext cx="731520" cy="7315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6" name="Text 14"/>
          <p:cNvSpPr txBox="1"/>
          <p:nvPr/>
        </p:nvSpPr>
        <p:spPr>
          <a:xfrm>
            <a:off x="9052560" y="2514600"/>
            <a:ext cx="2560320" cy="731520"/>
          </a:xfrm>
          <a:prstGeom prst="rect">
            <a:avLst/>
          </a:prstGeom>
          <a:noFill/>
          <a:ln/>
        </p:spPr>
        <p:txBody>
          <a:bodyPr wrap="square" lIns="0" tIns="0" rIns="0" bIns="0" rtlCol="0" anchor="t"/>
          <a:lstStyle/>
          <a:p>
            <a:pPr indent="0" marL="0">
              <a:buNone/>
            </a:pPr>
            <a:r>
              <a:rPr lang="en-US" sz="1900" b="1" dirty="0">
                <a:solidFill>
                  <a:schemeClr val="tx2"/>
                </a:solidFill>
              </a:rPr>
              <a:t>Score per class and SNR</a:t>
            </a:r>
            <a:endParaRPr lang="en-US" sz="1900" dirty="0"/>
          </a:p>
        </p:txBody>
      </p:sp>
      <p:sp>
        <p:nvSpPr>
          <p:cNvPr id="17" name="Text 15"/>
          <p:cNvSpPr txBox="1"/>
          <p:nvPr/>
        </p:nvSpPr>
        <p:spPr>
          <a:xfrm>
            <a:off x="9052560" y="3063240"/>
            <a:ext cx="2560320" cy="2194560"/>
          </a:xfrm>
          <a:prstGeom prst="rect">
            <a:avLst/>
          </a:prstGeom>
          <a:noFill/>
          <a:ln/>
        </p:spPr>
        <p:txBody>
          <a:bodyPr wrap="square" lIns="0" tIns="0" rIns="0" bIns="0" rtlCol="0" anchor="t"/>
          <a:lstStyle/>
          <a:p>
            <a:pPr indent="0" marL="0">
              <a:buNone/>
            </a:pPr>
            <a:r>
              <a:rPr lang="en-US" sz="1500" dirty="0">
                <a:solidFill>
                  <a:schemeClr val="tx1"/>
                </a:solidFill>
              </a:rPr>
              <a:t>Compared each answer with the true label and wrote tables, figures, the report and this deck.</a:t>
            </a:r>
            <a:endParaRPr lang="en-US" sz="1500" dirty="0"/>
          </a:p>
        </p:txBody>
      </p:sp>
      <p:sp>
        <p:nvSpPr>
          <p:cNvPr id="18" name="Text 16"/>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300" i="1" dirty="0">
                <a:solidFill>
                  <a:schemeClr val="accent3"/>
                </a:solidFill>
              </a:rPr>
              <a:t>Dataset 1: 14 classes (AM, NBFM, WBFM, OOK, 2FSK, 4FSK, GMSK, BPSK, QPSK, PI4DQPSK, 8PSK, 16QAM, OFDM, NOISE), 1,024 samples per clip, 16 SNR levels.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How we plugged into Cem and Ege's code</a:t>
            </a:r>
            <a:endParaRPr lang="en-US" sz="3200" dirty="0"/>
          </a:p>
        </p:txBody>
      </p:sp>
      <p:sp>
        <p:nvSpPr>
          <p:cNvPr id="3" name="Text 1"/>
          <p:cNvSpPr txBox="1"/>
          <p:nvPr/>
        </p:nvSpPr>
        <p:spPr>
          <a:xfrm>
            <a:off x="548640" y="1188720"/>
            <a:ext cx="11064240" cy="411480"/>
          </a:xfrm>
          <a:prstGeom prst="rect">
            <a:avLst/>
          </a:prstGeom>
          <a:noFill/>
          <a:ln/>
        </p:spPr>
        <p:txBody>
          <a:bodyPr wrap="square" lIns="0" tIns="0" rIns="0" bIns="0" rtlCol="0" anchor="t"/>
          <a:lstStyle/>
          <a:p>
            <a:pPr indent="0" marL="0">
              <a:buNone/>
            </a:pPr>
            <a:r>
              <a:rPr lang="en-US" sz="1500" dirty="0">
                <a:solidFill>
                  <a:schemeClr val="tx1"/>
                </a:solidFill>
              </a:rPr>
              <a:t>ds1common.py adds their folders to Python's search path, so our scripts import their functions directly: no copies, no edits.</a:t>
            </a:r>
            <a:endParaRPr lang="en-US" sz="1500" dirty="0"/>
          </a:p>
        </p:txBody>
      </p:sp>
      <p:graphicFrame>
        <p:nvGraphicFramePr>
          <p:cNvPr id="6" name="plug-in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743200"/>
                <a:gridCol w="4846320"/>
                <a:gridCol w="347472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Our script (new)</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Calls their code (unchanged)</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To get</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run_identification.py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amc/features.py, compare_classifiers.py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19 features and the 8 classifiers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run_identification.py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extended/wavelet.py, discovered/infotheory.py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Wavelet and entropy features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run_identification.py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requirements_methods.py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Azzouz–Nandi tree, Swami–Sadler rules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run_likelihood.py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practical_alrt.py, symbol_rate.py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Likelihood classifier (ALRT / HLRT)</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run_detection.py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wp4/detectors.py, disc/eigen.py, ext/block_detectors.py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16 signal-vs-noise detectors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run_characterization.py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wp6/estimators.py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Carrier, bandwidth and SNR estimators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run_characterization.py</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sr_bank.py + consensus_params.json</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Symbol rate (12-estimator vote)</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How each test works</a:t>
            </a:r>
            <a:endParaRPr lang="en-US" sz="3200" dirty="0"/>
          </a:p>
        </p:txBody>
      </p:sp>
      <p:sp>
        <p:nvSpPr>
          <p:cNvPr id="3" name="test Identification"/>
          <p:cNvSpPr/>
          <p:nvPr/>
        </p:nvSpPr>
        <p:spPr>
          <a:xfrm>
            <a:off x="548640" y="1417320"/>
            <a:ext cx="3474720" cy="4709160"/>
          </a:xfrm>
          <a:prstGeom prst="roundRect">
            <a:avLst>
              <a:gd name="adj" fmla="val 2105"/>
            </a:avLst>
          </a:prstGeom>
          <a:solidFill>
            <a:schemeClr val="bg2"/>
          </a:solidFill>
          <a:ln/>
        </p:spPr>
      </p:sp>
      <p:sp>
        <p:nvSpPr>
          <p:cNvPr id="4" name="Identification circle"/>
          <p:cNvSpPr/>
          <p:nvPr/>
        </p:nvSpPr>
        <p:spPr>
          <a:xfrm>
            <a:off x="822960" y="1691640"/>
            <a:ext cx="640080" cy="640080"/>
          </a:xfrm>
          <a:prstGeom prst="ellipse">
            <a:avLst/>
          </a:prstGeom>
          <a:solidFill>
            <a:schemeClr val="accent1"/>
          </a:solidFill>
          <a:ln/>
        </p:spPr>
      </p:sp>
      <p:pic>
        <p:nvPicPr>
          <p:cNvPr id="5" name="Identification icon" descr="Identification">    </p:cNvPr>
          <p:cNvPicPr>
            <a:picLocks noChangeAspect="1"/>
          </p:cNvPicPr>
          <p:nvPr/>
        </p:nvPicPr>
        <p:blipFill>
          <a:blip r:embed="rId1"/>
          <a:stretch>
            <a:fillRect/>
          </a:stretch>
        </p:blipFill>
        <p:spPr>
          <a:xfrm>
            <a:off x="963778" y="1832458"/>
            <a:ext cx="358445" cy="358445"/>
          </a:xfrm>
          <a:prstGeom prst="rect">
            <a:avLst/>
          </a:prstGeom>
        </p:spPr>
      </p:pic>
      <p:sp>
        <p:nvSpPr>
          <p:cNvPr id="6" name="Text 3"/>
          <p:cNvSpPr txBox="1"/>
          <p:nvPr/>
        </p:nvSpPr>
        <p:spPr>
          <a:xfrm>
            <a:off x="1600200" y="173736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Identification</a:t>
            </a:r>
            <a:endParaRPr lang="en-US" sz="2000" dirty="0"/>
          </a:p>
        </p:txBody>
      </p:sp>
      <p:sp>
        <p:nvSpPr>
          <p:cNvPr id="7" name="Text 4"/>
          <p:cNvSpPr txBox="1"/>
          <p:nvPr/>
        </p:nvSpPr>
        <p:spPr>
          <a:xfrm>
            <a:off x="822960" y="2606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a:t>
            </a:r>
            <a:endParaRPr lang="en-US" sz="1300" dirty="0"/>
          </a:p>
        </p:txBody>
      </p:sp>
      <p:sp>
        <p:nvSpPr>
          <p:cNvPr id="8" name="Text 5"/>
          <p:cNvSpPr txBox="1"/>
          <p:nvPr/>
        </p:nvSpPr>
        <p:spPr>
          <a:xfrm>
            <a:off x="822960" y="2926080"/>
            <a:ext cx="2926080" cy="777240"/>
          </a:xfrm>
          <a:prstGeom prst="rect">
            <a:avLst/>
          </a:prstGeom>
          <a:noFill/>
          <a:ln/>
        </p:spPr>
        <p:txBody>
          <a:bodyPr wrap="square" lIns="0" tIns="0" rIns="0" bIns="0" rtlCol="0" anchor="t"/>
          <a:lstStyle/>
          <a:p>
            <a:pPr indent="0" marL="0">
              <a:buNone/>
            </a:pPr>
            <a:r>
              <a:rPr lang="en-US" sz="1500" dirty="0">
                <a:solidFill>
                  <a:schemeClr val="tx1"/>
                </a:solidFill>
              </a:rPr>
              <a:t>Which of the 14 classes is this clip?</a:t>
            </a:r>
            <a:endParaRPr lang="en-US" sz="1500" dirty="0"/>
          </a:p>
        </p:txBody>
      </p:sp>
      <p:sp>
        <p:nvSpPr>
          <p:cNvPr id="9" name="Text 6"/>
          <p:cNvSpPr txBox="1"/>
          <p:nvPr/>
        </p:nvSpPr>
        <p:spPr>
          <a:xfrm>
            <a:off x="822960" y="3749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How</a:t>
            </a:r>
            <a:endParaRPr lang="en-US" sz="1300" dirty="0"/>
          </a:p>
        </p:txBody>
      </p:sp>
      <p:sp>
        <p:nvSpPr>
          <p:cNvPr id="10" name="Text 7"/>
          <p:cNvSpPr txBox="1"/>
          <p:nvPr/>
        </p:nvSpPr>
        <p:spPr>
          <a:xfrm>
            <a:off x="822960" y="4069080"/>
            <a:ext cx="2926080" cy="777240"/>
          </a:xfrm>
          <a:prstGeom prst="rect">
            <a:avLst/>
          </a:prstGeom>
          <a:noFill/>
          <a:ln/>
        </p:spPr>
        <p:txBody>
          <a:bodyPr wrap="square" lIns="0" tIns="0" rIns="0" bIns="0" rtlCol="0" anchor="t"/>
          <a:lstStyle/>
          <a:p>
            <a:pPr indent="0" marL="0">
              <a:buNone/>
            </a:pPr>
            <a:r>
              <a:rPr lang="en-US" sz="1500" dirty="0">
                <a:solidFill>
                  <a:schemeClr val="tx1"/>
                </a:solidFill>
              </a:rPr>
              <a:t>Learn on 156,800 clips, then label 33,600 unseen clips</a:t>
            </a:r>
            <a:endParaRPr lang="en-US" sz="1500" dirty="0"/>
          </a:p>
        </p:txBody>
      </p:sp>
      <p:sp>
        <p:nvSpPr>
          <p:cNvPr id="11" name="Text 8"/>
          <p:cNvSpPr txBox="1"/>
          <p:nvPr/>
        </p:nvSpPr>
        <p:spPr>
          <a:xfrm>
            <a:off x="822960" y="4892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Score</a:t>
            </a:r>
            <a:endParaRPr lang="en-US" sz="1300" dirty="0"/>
          </a:p>
        </p:txBody>
      </p:sp>
      <p:sp>
        <p:nvSpPr>
          <p:cNvPr id="12" name="Text 9"/>
          <p:cNvSpPr txBox="1"/>
          <p:nvPr/>
        </p:nvSpPr>
        <p:spPr>
          <a:xfrm>
            <a:off x="822960" y="5212080"/>
            <a:ext cx="2926080" cy="777240"/>
          </a:xfrm>
          <a:prstGeom prst="rect">
            <a:avLst/>
          </a:prstGeom>
          <a:noFill/>
          <a:ln/>
        </p:spPr>
        <p:txBody>
          <a:bodyPr wrap="square" lIns="0" tIns="0" rIns="0" bIns="0" rtlCol="0" anchor="t"/>
          <a:lstStyle/>
          <a:p>
            <a:pPr indent="0" marL="0">
              <a:buNone/>
            </a:pPr>
            <a:r>
              <a:rPr lang="en-US" sz="1500" dirty="0">
                <a:solidFill>
                  <a:schemeClr val="tx1"/>
                </a:solidFill>
              </a:rPr>
              <a:t>% correct, per class and SNR</a:t>
            </a:r>
            <a:endParaRPr lang="en-US" sz="1500" dirty="0"/>
          </a:p>
        </p:txBody>
      </p:sp>
      <p:sp>
        <p:nvSpPr>
          <p:cNvPr id="13" name="test Detection"/>
          <p:cNvSpPr/>
          <p:nvPr/>
        </p:nvSpPr>
        <p:spPr>
          <a:xfrm>
            <a:off x="4297680" y="1417320"/>
            <a:ext cx="3474720" cy="4709160"/>
          </a:xfrm>
          <a:prstGeom prst="roundRect">
            <a:avLst>
              <a:gd name="adj" fmla="val 2105"/>
            </a:avLst>
          </a:prstGeom>
          <a:solidFill>
            <a:schemeClr val="bg2"/>
          </a:solidFill>
          <a:ln/>
        </p:spPr>
      </p:sp>
      <p:sp>
        <p:nvSpPr>
          <p:cNvPr id="14" name="Detection circle"/>
          <p:cNvSpPr/>
          <p:nvPr/>
        </p:nvSpPr>
        <p:spPr>
          <a:xfrm>
            <a:off x="4572000" y="1691640"/>
            <a:ext cx="640080" cy="640080"/>
          </a:xfrm>
          <a:prstGeom prst="ellipse">
            <a:avLst/>
          </a:prstGeom>
          <a:solidFill>
            <a:schemeClr val="accent1"/>
          </a:solidFill>
          <a:ln/>
        </p:spPr>
      </p:sp>
      <p:pic>
        <p:nvPicPr>
          <p:cNvPr id="15" name="Detection icon" descr="Detection">    </p:cNvPr>
          <p:cNvPicPr>
            <a:picLocks noChangeAspect="1"/>
          </p:cNvPicPr>
          <p:nvPr/>
        </p:nvPicPr>
        <p:blipFill>
          <a:blip r:embed="rId2"/>
          <a:stretch>
            <a:fillRect/>
          </a:stretch>
        </p:blipFill>
        <p:spPr>
          <a:xfrm>
            <a:off x="4712818" y="1832458"/>
            <a:ext cx="358445" cy="358445"/>
          </a:xfrm>
          <a:prstGeom prst="rect">
            <a:avLst/>
          </a:prstGeom>
        </p:spPr>
      </p:pic>
      <p:sp>
        <p:nvSpPr>
          <p:cNvPr id="16" name="Text 12"/>
          <p:cNvSpPr txBox="1"/>
          <p:nvPr/>
        </p:nvSpPr>
        <p:spPr>
          <a:xfrm>
            <a:off x="5349240" y="173736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Detection</a:t>
            </a:r>
            <a:endParaRPr lang="en-US" sz="2000" dirty="0"/>
          </a:p>
        </p:txBody>
      </p:sp>
      <p:sp>
        <p:nvSpPr>
          <p:cNvPr id="17" name="Text 13"/>
          <p:cNvSpPr txBox="1"/>
          <p:nvPr/>
        </p:nvSpPr>
        <p:spPr>
          <a:xfrm>
            <a:off x="4572000" y="2606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a:t>
            </a:r>
            <a:endParaRPr lang="en-US" sz="1300" dirty="0"/>
          </a:p>
        </p:txBody>
      </p:sp>
      <p:sp>
        <p:nvSpPr>
          <p:cNvPr id="18" name="Text 14"/>
          <p:cNvSpPr txBox="1"/>
          <p:nvPr/>
        </p:nvSpPr>
        <p:spPr>
          <a:xfrm>
            <a:off x="4572000" y="2926080"/>
            <a:ext cx="2926080" cy="777240"/>
          </a:xfrm>
          <a:prstGeom prst="rect">
            <a:avLst/>
          </a:prstGeom>
          <a:noFill/>
          <a:ln/>
        </p:spPr>
        <p:txBody>
          <a:bodyPr wrap="square" lIns="0" tIns="0" rIns="0" bIns="0" rtlCol="0" anchor="t"/>
          <a:lstStyle/>
          <a:p>
            <a:pPr indent="0" marL="0">
              <a:buNone/>
            </a:pPr>
            <a:r>
              <a:rPr lang="en-US" sz="1500" dirty="0">
                <a:solidFill>
                  <a:schemeClr val="tx1"/>
                </a:solidFill>
              </a:rPr>
              <a:t>Is there a signal, or only noise?</a:t>
            </a:r>
            <a:endParaRPr lang="en-US" sz="1500" dirty="0"/>
          </a:p>
        </p:txBody>
      </p:sp>
      <p:sp>
        <p:nvSpPr>
          <p:cNvPr id="19" name="Text 15"/>
          <p:cNvSpPr txBox="1"/>
          <p:nvPr/>
        </p:nvSpPr>
        <p:spPr>
          <a:xfrm>
            <a:off x="4572000" y="3749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How</a:t>
            </a:r>
            <a:endParaRPr lang="en-US" sz="1300" dirty="0"/>
          </a:p>
        </p:txBody>
      </p:sp>
      <p:sp>
        <p:nvSpPr>
          <p:cNvPr id="20" name="Text 16"/>
          <p:cNvSpPr txBox="1"/>
          <p:nvPr/>
        </p:nvSpPr>
        <p:spPr>
          <a:xfrm>
            <a:off x="4572000" y="4069080"/>
            <a:ext cx="2926080" cy="777240"/>
          </a:xfrm>
          <a:prstGeom prst="rect">
            <a:avLst/>
          </a:prstGeom>
          <a:noFill/>
          <a:ln/>
        </p:spPr>
        <p:txBody>
          <a:bodyPr wrap="square" lIns="0" tIns="0" rIns="0" bIns="0" rtlCol="0" anchor="t"/>
          <a:lstStyle/>
          <a:p>
            <a:pPr indent="0" marL="0">
              <a:buNone/>
            </a:pPr>
            <a:r>
              <a:rPr lang="en-US" sz="1500" dirty="0">
                <a:solidFill>
                  <a:schemeClr val="tx1"/>
                </a:solidFill>
              </a:rPr>
              <a:t>Threshold set so only 1 % of pure-noise clips give a false alarm</a:t>
            </a:r>
            <a:endParaRPr lang="en-US" sz="1500" dirty="0"/>
          </a:p>
        </p:txBody>
      </p:sp>
      <p:sp>
        <p:nvSpPr>
          <p:cNvPr id="21" name="Text 17"/>
          <p:cNvSpPr txBox="1"/>
          <p:nvPr/>
        </p:nvSpPr>
        <p:spPr>
          <a:xfrm>
            <a:off x="4572000" y="4892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Score</a:t>
            </a:r>
            <a:endParaRPr lang="en-US" sz="1300" dirty="0"/>
          </a:p>
        </p:txBody>
      </p:sp>
      <p:sp>
        <p:nvSpPr>
          <p:cNvPr id="22" name="Text 18"/>
          <p:cNvSpPr txBox="1"/>
          <p:nvPr/>
        </p:nvSpPr>
        <p:spPr>
          <a:xfrm>
            <a:off x="4572000" y="5212080"/>
            <a:ext cx="2926080" cy="777240"/>
          </a:xfrm>
          <a:prstGeom prst="rect">
            <a:avLst/>
          </a:prstGeom>
          <a:noFill/>
          <a:ln/>
        </p:spPr>
        <p:txBody>
          <a:bodyPr wrap="square" lIns="0" tIns="0" rIns="0" bIns="0" rtlCol="0" anchor="t"/>
          <a:lstStyle/>
          <a:p>
            <a:pPr indent="0" marL="0">
              <a:buNone/>
            </a:pPr>
            <a:r>
              <a:rPr lang="en-US" sz="1500" dirty="0">
                <a:solidFill>
                  <a:schemeClr val="tx1"/>
                </a:solidFill>
              </a:rPr>
              <a:t>Pd: % of signal clips found</a:t>
            </a:r>
            <a:endParaRPr lang="en-US" sz="1500" dirty="0"/>
          </a:p>
        </p:txBody>
      </p:sp>
      <p:sp>
        <p:nvSpPr>
          <p:cNvPr id="23" name="test Characterization"/>
          <p:cNvSpPr/>
          <p:nvPr/>
        </p:nvSpPr>
        <p:spPr>
          <a:xfrm>
            <a:off x="8046720" y="1417320"/>
            <a:ext cx="3474720" cy="4709160"/>
          </a:xfrm>
          <a:prstGeom prst="roundRect">
            <a:avLst>
              <a:gd name="adj" fmla="val 2105"/>
            </a:avLst>
          </a:prstGeom>
          <a:solidFill>
            <a:schemeClr val="bg2"/>
          </a:solidFill>
          <a:ln/>
        </p:spPr>
      </p:sp>
      <p:sp>
        <p:nvSpPr>
          <p:cNvPr id="24" name="Characterization circle"/>
          <p:cNvSpPr/>
          <p:nvPr/>
        </p:nvSpPr>
        <p:spPr>
          <a:xfrm>
            <a:off x="8321040" y="1691640"/>
            <a:ext cx="640080" cy="640080"/>
          </a:xfrm>
          <a:prstGeom prst="ellipse">
            <a:avLst/>
          </a:prstGeom>
          <a:solidFill>
            <a:schemeClr val="accent1"/>
          </a:solidFill>
          <a:ln/>
        </p:spPr>
      </p:sp>
      <p:pic>
        <p:nvPicPr>
          <p:cNvPr id="25" name="Characterization icon" descr="Characterization">    </p:cNvPr>
          <p:cNvPicPr>
            <a:picLocks noChangeAspect="1"/>
          </p:cNvPicPr>
          <p:nvPr/>
        </p:nvPicPr>
        <p:blipFill>
          <a:blip r:embed="rId3"/>
          <a:stretch>
            <a:fillRect/>
          </a:stretch>
        </p:blipFill>
        <p:spPr>
          <a:xfrm>
            <a:off x="8461858" y="1832458"/>
            <a:ext cx="358445" cy="358445"/>
          </a:xfrm>
          <a:prstGeom prst="rect">
            <a:avLst/>
          </a:prstGeom>
        </p:spPr>
      </p:pic>
      <p:sp>
        <p:nvSpPr>
          <p:cNvPr id="26" name="Text 21"/>
          <p:cNvSpPr txBox="1"/>
          <p:nvPr/>
        </p:nvSpPr>
        <p:spPr>
          <a:xfrm>
            <a:off x="9098280" y="1737360"/>
            <a:ext cx="2194560" cy="548640"/>
          </a:xfrm>
          <a:prstGeom prst="rect">
            <a:avLst/>
          </a:prstGeom>
          <a:noFill/>
          <a:ln/>
        </p:spPr>
        <p:txBody>
          <a:bodyPr wrap="square" lIns="0" tIns="0" rIns="0" bIns="0" rtlCol="0" anchor="ctr"/>
          <a:lstStyle/>
          <a:p>
            <a:pPr indent="0" marL="0">
              <a:buNone/>
            </a:pPr>
            <a:r>
              <a:rPr lang="en-US" sz="2000" b="1" dirty="0">
                <a:solidFill>
                  <a:schemeClr val="tx2"/>
                </a:solidFill>
              </a:rPr>
              <a:t>Characterization</a:t>
            </a:r>
            <a:endParaRPr lang="en-US" sz="2000" dirty="0"/>
          </a:p>
        </p:txBody>
      </p:sp>
      <p:sp>
        <p:nvSpPr>
          <p:cNvPr id="27" name="Text 22"/>
          <p:cNvSpPr txBox="1"/>
          <p:nvPr/>
        </p:nvSpPr>
        <p:spPr>
          <a:xfrm>
            <a:off x="8321040" y="2606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Question</a:t>
            </a:r>
            <a:endParaRPr lang="en-US" sz="1300" dirty="0"/>
          </a:p>
        </p:txBody>
      </p:sp>
      <p:sp>
        <p:nvSpPr>
          <p:cNvPr id="28" name="Text 23"/>
          <p:cNvSpPr txBox="1"/>
          <p:nvPr/>
        </p:nvSpPr>
        <p:spPr>
          <a:xfrm>
            <a:off x="8321040" y="2926080"/>
            <a:ext cx="2926080" cy="777240"/>
          </a:xfrm>
          <a:prstGeom prst="rect">
            <a:avLst/>
          </a:prstGeom>
          <a:noFill/>
          <a:ln/>
        </p:spPr>
        <p:txBody>
          <a:bodyPr wrap="square" lIns="0" tIns="0" rIns="0" bIns="0" rtlCol="0" anchor="t"/>
          <a:lstStyle/>
          <a:p>
            <a:pPr indent="0" marL="0">
              <a:buNone/>
            </a:pPr>
            <a:r>
              <a:rPr lang="en-US" sz="1500" dirty="0">
                <a:solidFill>
                  <a:schemeClr val="tx1"/>
                </a:solidFill>
              </a:rPr>
              <a:t>What are its carrier, bandwidth, SNR and symbol rate?</a:t>
            </a:r>
            <a:endParaRPr lang="en-US" sz="1500" dirty="0"/>
          </a:p>
        </p:txBody>
      </p:sp>
      <p:sp>
        <p:nvSpPr>
          <p:cNvPr id="29" name="Text 24"/>
          <p:cNvSpPr txBox="1"/>
          <p:nvPr/>
        </p:nvSpPr>
        <p:spPr>
          <a:xfrm>
            <a:off x="8321040" y="3749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How</a:t>
            </a:r>
            <a:endParaRPr lang="en-US" sz="1300" dirty="0"/>
          </a:p>
        </p:txBody>
      </p:sp>
      <p:sp>
        <p:nvSpPr>
          <p:cNvPr id="30" name="Text 25"/>
          <p:cNvSpPr txBox="1"/>
          <p:nvPr/>
        </p:nvSpPr>
        <p:spPr>
          <a:xfrm>
            <a:off x="8321040" y="4069080"/>
            <a:ext cx="2926080" cy="777240"/>
          </a:xfrm>
          <a:prstGeom prst="rect">
            <a:avLst/>
          </a:prstGeom>
          <a:noFill/>
          <a:ln/>
        </p:spPr>
        <p:txBody>
          <a:bodyPr wrap="square" lIns="0" tIns="0" rIns="0" bIns="0" rtlCol="0" anchor="t"/>
          <a:lstStyle/>
          <a:p>
            <a:pPr indent="0" marL="0">
              <a:buNone/>
            </a:pPr>
            <a:r>
              <a:rPr lang="en-US" sz="1500" dirty="0">
                <a:solidFill>
                  <a:schemeClr val="tx1"/>
                </a:solidFill>
              </a:rPr>
              <a:t>Estimate from the clip, compare with the true value from the generator</a:t>
            </a:r>
            <a:endParaRPr lang="en-US" sz="1500" dirty="0"/>
          </a:p>
        </p:txBody>
      </p:sp>
      <p:sp>
        <p:nvSpPr>
          <p:cNvPr id="31" name="Text 26"/>
          <p:cNvSpPr txBox="1"/>
          <p:nvPr/>
        </p:nvSpPr>
        <p:spPr>
          <a:xfrm>
            <a:off x="8321040" y="4892040"/>
            <a:ext cx="2926080" cy="320040"/>
          </a:xfrm>
          <a:prstGeom prst="rect">
            <a:avLst/>
          </a:prstGeom>
          <a:noFill/>
          <a:ln/>
        </p:spPr>
        <p:txBody>
          <a:bodyPr wrap="square" lIns="0" tIns="0" rIns="0" bIns="0" rtlCol="0" anchor="t"/>
          <a:lstStyle/>
          <a:p>
            <a:pPr indent="0" marL="0">
              <a:buNone/>
            </a:pPr>
            <a:r>
              <a:rPr lang="en-US" sz="1300" b="1" dirty="0">
                <a:solidFill>
                  <a:schemeClr val="accent1"/>
                </a:solidFill>
              </a:rPr>
              <a:t>Score</a:t>
            </a:r>
            <a:endParaRPr lang="en-US" sz="1300" dirty="0"/>
          </a:p>
        </p:txBody>
      </p:sp>
      <p:sp>
        <p:nvSpPr>
          <p:cNvPr id="32" name="Text 27"/>
          <p:cNvSpPr txBox="1"/>
          <p:nvPr/>
        </p:nvSpPr>
        <p:spPr>
          <a:xfrm>
            <a:off x="8321040" y="5212080"/>
            <a:ext cx="2926080" cy="777240"/>
          </a:xfrm>
          <a:prstGeom prst="rect">
            <a:avLst/>
          </a:prstGeom>
          <a:noFill/>
          <a:ln/>
        </p:spPr>
        <p:txBody>
          <a:bodyPr wrap="square" lIns="0" tIns="0" rIns="0" bIns="0" rtlCol="0" anchor="t"/>
          <a:lstStyle/>
          <a:p>
            <a:pPr indent="0" marL="0">
              <a:buNone/>
            </a:pPr>
            <a:r>
              <a:rPr lang="en-US" sz="1500" dirty="0">
                <a:solidFill>
                  <a:schemeClr val="tx1"/>
                </a:solidFill>
              </a:rPr>
              <a:t>Median error; symbol rate counts if within 2 %</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Results at a glance</a:t>
            </a:r>
            <a:endParaRPr lang="en-US" sz="3200" dirty="0"/>
          </a:p>
        </p:txBody>
      </p:sp>
      <p:sp>
        <p:nvSpPr>
          <p:cNvPr id="3" name="card Identification"/>
          <p:cNvSpPr/>
          <p:nvPr/>
        </p:nvSpPr>
        <p:spPr>
          <a:xfrm>
            <a:off x="548640" y="1554480"/>
            <a:ext cx="2606040" cy="4023360"/>
          </a:xfrm>
          <a:prstGeom prst="roundRect">
            <a:avLst>
              <a:gd name="adj" fmla="val 2807"/>
            </a:avLst>
          </a:prstGeom>
          <a:solidFill>
            <a:schemeClr val="bg2"/>
          </a:solidFill>
          <a:ln/>
        </p:spPr>
      </p:sp>
      <p:sp>
        <p:nvSpPr>
          <p:cNvPr id="4" name="Identification circle"/>
          <p:cNvSpPr/>
          <p:nvPr/>
        </p:nvSpPr>
        <p:spPr>
          <a:xfrm>
            <a:off x="822960" y="1874520"/>
            <a:ext cx="685800" cy="685800"/>
          </a:xfrm>
          <a:prstGeom prst="ellipse">
            <a:avLst/>
          </a:prstGeom>
          <a:solidFill>
            <a:schemeClr val="accent1"/>
          </a:solidFill>
          <a:ln/>
        </p:spPr>
      </p:sp>
      <p:pic>
        <p:nvPicPr>
          <p:cNvPr id="5" name="Identification icon" descr="Identification">    </p:cNvPr>
          <p:cNvPicPr>
            <a:picLocks noChangeAspect="1"/>
          </p:cNvPicPr>
          <p:nvPr/>
        </p:nvPicPr>
        <p:blipFill>
          <a:blip r:embed="rId1"/>
          <a:stretch>
            <a:fillRect/>
          </a:stretch>
        </p:blipFill>
        <p:spPr>
          <a:xfrm>
            <a:off x="973836" y="2025396"/>
            <a:ext cx="384048" cy="384048"/>
          </a:xfrm>
          <a:prstGeom prst="rect">
            <a:avLst/>
          </a:prstGeom>
        </p:spPr>
      </p:pic>
      <p:sp>
        <p:nvSpPr>
          <p:cNvPr id="6" name="Text 3"/>
          <p:cNvSpPr txBox="1"/>
          <p:nvPr/>
        </p:nvSpPr>
        <p:spPr>
          <a:xfrm>
            <a:off x="822960" y="2788920"/>
            <a:ext cx="2057400"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90.2 %</a:t>
            </a:r>
            <a:endParaRPr lang="en-US" sz="3200" dirty="0"/>
          </a:p>
        </p:txBody>
      </p:sp>
      <p:sp>
        <p:nvSpPr>
          <p:cNvPr id="7" name="Text 4"/>
          <p:cNvSpPr txBox="1"/>
          <p:nvPr/>
        </p:nvSpPr>
        <p:spPr>
          <a:xfrm>
            <a:off x="822960" y="3703320"/>
            <a:ext cx="2057400" cy="411480"/>
          </a:xfrm>
          <a:prstGeom prst="rect">
            <a:avLst/>
          </a:prstGeom>
          <a:noFill/>
          <a:ln/>
        </p:spPr>
        <p:txBody>
          <a:bodyPr wrap="square" lIns="0" tIns="0" rIns="0" bIns="0" rtlCol="0" anchor="t"/>
          <a:lstStyle/>
          <a:p>
            <a:pPr indent="0" marL="0">
              <a:buNone/>
            </a:pPr>
            <a:r>
              <a:rPr lang="en-US" sz="1800" b="1" dirty="0">
                <a:solidFill>
                  <a:schemeClr val="tx2"/>
                </a:solidFill>
              </a:rPr>
              <a:t>Identification</a:t>
            </a:r>
            <a:endParaRPr lang="en-US" sz="1800" dirty="0"/>
          </a:p>
        </p:txBody>
      </p:sp>
      <p:sp>
        <p:nvSpPr>
          <p:cNvPr id="8" name="Text 5"/>
          <p:cNvSpPr txBox="1"/>
          <p:nvPr/>
        </p:nvSpPr>
        <p:spPr>
          <a:xfrm>
            <a:off x="822960" y="4206240"/>
            <a:ext cx="2057400" cy="1280160"/>
          </a:xfrm>
          <a:prstGeom prst="rect">
            <a:avLst/>
          </a:prstGeom>
          <a:noFill/>
          <a:ln/>
        </p:spPr>
        <p:txBody>
          <a:bodyPr wrap="square" lIns="0" tIns="0" rIns="0" bIns="0" rtlCol="0" anchor="t"/>
          <a:lstStyle/>
          <a:p>
            <a:pPr indent="0" marL="0">
              <a:buNone/>
            </a:pPr>
            <a:r>
              <a:rPr lang="en-US" sz="1400" dirty="0">
                <a:solidFill>
                  <a:schemeClr val="tx1"/>
                </a:solidFill>
              </a:rPr>
              <a:t>14 classes, at SNR ≥ 10 dB, with 19 + 24 wavelet features (boosted trees); 85 % from 12 dB</a:t>
            </a:r>
            <a:endParaRPr lang="en-US" sz="1400" dirty="0"/>
          </a:p>
        </p:txBody>
      </p:sp>
      <p:sp>
        <p:nvSpPr>
          <p:cNvPr id="9" name="card Detection"/>
          <p:cNvSpPr/>
          <p:nvPr/>
        </p:nvSpPr>
        <p:spPr>
          <a:xfrm>
            <a:off x="3383280" y="1554480"/>
            <a:ext cx="2606040" cy="4023360"/>
          </a:xfrm>
          <a:prstGeom prst="roundRect">
            <a:avLst>
              <a:gd name="adj" fmla="val 2807"/>
            </a:avLst>
          </a:prstGeom>
          <a:solidFill>
            <a:schemeClr val="bg2"/>
          </a:solidFill>
          <a:ln/>
        </p:spPr>
      </p:sp>
      <p:sp>
        <p:nvSpPr>
          <p:cNvPr id="10" name="Detection circle"/>
          <p:cNvSpPr/>
          <p:nvPr/>
        </p:nvSpPr>
        <p:spPr>
          <a:xfrm>
            <a:off x="3657600" y="1874520"/>
            <a:ext cx="685800" cy="685800"/>
          </a:xfrm>
          <a:prstGeom prst="ellipse">
            <a:avLst/>
          </a:prstGeom>
          <a:solidFill>
            <a:schemeClr val="accent1"/>
          </a:solidFill>
          <a:ln/>
        </p:spPr>
      </p:sp>
      <p:pic>
        <p:nvPicPr>
          <p:cNvPr id="11" name="Detection icon" descr="Detection">    </p:cNvPr>
          <p:cNvPicPr>
            <a:picLocks noChangeAspect="1"/>
          </p:cNvPicPr>
          <p:nvPr/>
        </p:nvPicPr>
        <p:blipFill>
          <a:blip r:embed="rId2"/>
          <a:stretch>
            <a:fillRect/>
          </a:stretch>
        </p:blipFill>
        <p:spPr>
          <a:xfrm>
            <a:off x="3808476" y="2025396"/>
            <a:ext cx="384048" cy="384048"/>
          </a:xfrm>
          <a:prstGeom prst="rect">
            <a:avLst/>
          </a:prstGeom>
        </p:spPr>
      </p:pic>
      <p:sp>
        <p:nvSpPr>
          <p:cNvPr id="12" name="Text 8"/>
          <p:cNvSpPr txBox="1"/>
          <p:nvPr/>
        </p:nvSpPr>
        <p:spPr>
          <a:xfrm>
            <a:off x="3657600" y="2788920"/>
            <a:ext cx="2057400"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 dB</a:t>
            </a:r>
            <a:endParaRPr lang="en-US" sz="3200" dirty="0"/>
          </a:p>
        </p:txBody>
      </p:sp>
      <p:sp>
        <p:nvSpPr>
          <p:cNvPr id="13" name="Text 9"/>
          <p:cNvSpPr txBox="1"/>
          <p:nvPr/>
        </p:nvSpPr>
        <p:spPr>
          <a:xfrm>
            <a:off x="3657600" y="3703320"/>
            <a:ext cx="2057400" cy="411480"/>
          </a:xfrm>
          <a:prstGeom prst="rect">
            <a:avLst/>
          </a:prstGeom>
          <a:noFill/>
          <a:ln/>
        </p:spPr>
        <p:txBody>
          <a:bodyPr wrap="square" lIns="0" tIns="0" rIns="0" bIns="0" rtlCol="0" anchor="t"/>
          <a:lstStyle/>
          <a:p>
            <a:pPr indent="0" marL="0">
              <a:buNone/>
            </a:pPr>
            <a:r>
              <a:rPr lang="en-US" sz="1800" b="1" dirty="0">
                <a:solidFill>
                  <a:schemeClr val="tx2"/>
                </a:solidFill>
              </a:rPr>
              <a:t>Detection</a:t>
            </a:r>
            <a:endParaRPr lang="en-US" sz="1800" dirty="0"/>
          </a:p>
        </p:txBody>
      </p:sp>
      <p:sp>
        <p:nvSpPr>
          <p:cNvPr id="14" name="Text 10"/>
          <p:cNvSpPr txBox="1"/>
          <p:nvPr/>
        </p:nvSpPr>
        <p:spPr>
          <a:xfrm>
            <a:off x="3657600" y="4206240"/>
            <a:ext cx="2057400" cy="1280160"/>
          </a:xfrm>
          <a:prstGeom prst="rect">
            <a:avLst/>
          </a:prstGeom>
          <a:noFill/>
          <a:ln/>
        </p:spPr>
        <p:txBody>
          <a:bodyPr wrap="square" lIns="0" tIns="0" rIns="0" bIns="0" rtlCol="0" anchor="t"/>
          <a:lstStyle/>
          <a:p>
            <a:pPr indent="0" marL="0">
              <a:buNone/>
            </a:pPr>
            <a:r>
              <a:rPr lang="en-US" sz="1400" dirty="0">
                <a:solidFill>
                  <a:schemeClr val="tx1"/>
                </a:solidFill>
              </a:rPr>
              <a:t>Pd reaches 90 % at a 1 % false-alarm rate (eigenvalue / covariance detectors)</a:t>
            </a:r>
            <a:endParaRPr lang="en-US" sz="1400" dirty="0"/>
          </a:p>
        </p:txBody>
      </p:sp>
      <p:sp>
        <p:nvSpPr>
          <p:cNvPr id="15" name="card SNR estimation"/>
          <p:cNvSpPr/>
          <p:nvPr/>
        </p:nvSpPr>
        <p:spPr>
          <a:xfrm>
            <a:off x="6217920" y="1554480"/>
            <a:ext cx="2606040" cy="4023360"/>
          </a:xfrm>
          <a:prstGeom prst="roundRect">
            <a:avLst>
              <a:gd name="adj" fmla="val 2807"/>
            </a:avLst>
          </a:prstGeom>
          <a:solidFill>
            <a:schemeClr val="bg2"/>
          </a:solidFill>
          <a:ln/>
        </p:spPr>
      </p:sp>
      <p:sp>
        <p:nvSpPr>
          <p:cNvPr id="16" name="SNR estimation circle"/>
          <p:cNvSpPr/>
          <p:nvPr/>
        </p:nvSpPr>
        <p:spPr>
          <a:xfrm>
            <a:off x="6492240" y="1874520"/>
            <a:ext cx="685800" cy="685800"/>
          </a:xfrm>
          <a:prstGeom prst="ellipse">
            <a:avLst/>
          </a:prstGeom>
          <a:solidFill>
            <a:schemeClr val="accent1"/>
          </a:solidFill>
          <a:ln/>
        </p:spPr>
      </p:sp>
      <p:pic>
        <p:nvPicPr>
          <p:cNvPr id="17" name="SNR estimation icon" descr="SNR estimation">    </p:cNvPr>
          <p:cNvPicPr>
            <a:picLocks noChangeAspect="1"/>
          </p:cNvPicPr>
          <p:nvPr/>
        </p:nvPicPr>
        <p:blipFill>
          <a:blip r:embed="rId3"/>
          <a:stretch>
            <a:fillRect/>
          </a:stretch>
        </p:blipFill>
        <p:spPr>
          <a:xfrm>
            <a:off x="6643116" y="2025396"/>
            <a:ext cx="384048" cy="384048"/>
          </a:xfrm>
          <a:prstGeom prst="rect">
            <a:avLst/>
          </a:prstGeom>
        </p:spPr>
      </p:pic>
      <p:sp>
        <p:nvSpPr>
          <p:cNvPr id="18" name="Text 13"/>
          <p:cNvSpPr txBox="1"/>
          <p:nvPr/>
        </p:nvSpPr>
        <p:spPr>
          <a:xfrm>
            <a:off x="6492240" y="2788920"/>
            <a:ext cx="2057400"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0.6–0.9 dB</a:t>
            </a:r>
            <a:endParaRPr lang="en-US" sz="3200" dirty="0"/>
          </a:p>
        </p:txBody>
      </p:sp>
      <p:sp>
        <p:nvSpPr>
          <p:cNvPr id="19" name="Text 14"/>
          <p:cNvSpPr txBox="1"/>
          <p:nvPr/>
        </p:nvSpPr>
        <p:spPr>
          <a:xfrm>
            <a:off x="6492240" y="3703320"/>
            <a:ext cx="2057400" cy="411480"/>
          </a:xfrm>
          <a:prstGeom prst="rect">
            <a:avLst/>
          </a:prstGeom>
          <a:noFill/>
          <a:ln/>
        </p:spPr>
        <p:txBody>
          <a:bodyPr wrap="square" lIns="0" tIns="0" rIns="0" bIns="0" rtlCol="0" anchor="t"/>
          <a:lstStyle/>
          <a:p>
            <a:pPr indent="0" marL="0">
              <a:buNone/>
            </a:pPr>
            <a:r>
              <a:rPr lang="en-US" sz="1800" b="1" dirty="0">
                <a:solidFill>
                  <a:schemeClr val="tx2"/>
                </a:solidFill>
              </a:rPr>
              <a:t>SNR estimation</a:t>
            </a:r>
            <a:endParaRPr lang="en-US" sz="1800" dirty="0"/>
          </a:p>
        </p:txBody>
      </p:sp>
      <p:sp>
        <p:nvSpPr>
          <p:cNvPr id="20" name="Text 15"/>
          <p:cNvSpPr txBox="1"/>
          <p:nvPr/>
        </p:nvSpPr>
        <p:spPr>
          <a:xfrm>
            <a:off x="6492240" y="4206240"/>
            <a:ext cx="2057400" cy="1280160"/>
          </a:xfrm>
          <a:prstGeom prst="rect">
            <a:avLst/>
          </a:prstGeom>
          <a:noFill/>
          <a:ln/>
        </p:spPr>
        <p:txBody>
          <a:bodyPr wrap="square" lIns="0" tIns="0" rIns="0" bIns="0" rtlCol="0" anchor="t"/>
          <a:lstStyle/>
          <a:p>
            <a:pPr indent="0" marL="0">
              <a:buNone/>
            </a:pPr>
            <a:r>
              <a:rPr lang="en-US" sz="1400" dirty="0">
                <a:solidFill>
                  <a:schemeClr val="tx1"/>
                </a:solidFill>
              </a:rPr>
              <a:t>median error of the in-band PSD estimator; carrier error 2.1 % of the bandwidth</a:t>
            </a:r>
            <a:endParaRPr lang="en-US" sz="1400" dirty="0"/>
          </a:p>
        </p:txBody>
      </p:sp>
      <p:sp>
        <p:nvSpPr>
          <p:cNvPr id="21" name="card Symbol rate"/>
          <p:cNvSpPr/>
          <p:nvPr/>
        </p:nvSpPr>
        <p:spPr>
          <a:xfrm>
            <a:off x="9052560" y="1554480"/>
            <a:ext cx="2606040" cy="4023360"/>
          </a:xfrm>
          <a:prstGeom prst="roundRect">
            <a:avLst>
              <a:gd name="adj" fmla="val 2807"/>
            </a:avLst>
          </a:prstGeom>
          <a:solidFill>
            <a:schemeClr val="bg2"/>
          </a:solidFill>
          <a:ln/>
        </p:spPr>
      </p:sp>
      <p:sp>
        <p:nvSpPr>
          <p:cNvPr id="22" name="Symbol rate circle"/>
          <p:cNvSpPr/>
          <p:nvPr/>
        </p:nvSpPr>
        <p:spPr>
          <a:xfrm>
            <a:off x="9326880" y="1874520"/>
            <a:ext cx="685800" cy="685800"/>
          </a:xfrm>
          <a:prstGeom prst="ellipse">
            <a:avLst/>
          </a:prstGeom>
          <a:solidFill>
            <a:schemeClr val="accent1"/>
          </a:solidFill>
          <a:ln/>
        </p:spPr>
      </p:sp>
      <p:pic>
        <p:nvPicPr>
          <p:cNvPr id="23" name="Symbol rate icon" descr="Symbol rate">    </p:cNvPr>
          <p:cNvPicPr>
            <a:picLocks noChangeAspect="1"/>
          </p:cNvPicPr>
          <p:nvPr/>
        </p:nvPicPr>
        <p:blipFill>
          <a:blip r:embed="rId4"/>
          <a:stretch>
            <a:fillRect/>
          </a:stretch>
        </p:blipFill>
        <p:spPr>
          <a:xfrm>
            <a:off x="9477756" y="2025396"/>
            <a:ext cx="384048" cy="384048"/>
          </a:xfrm>
          <a:prstGeom prst="rect">
            <a:avLst/>
          </a:prstGeom>
        </p:spPr>
      </p:pic>
      <p:sp>
        <p:nvSpPr>
          <p:cNvPr id="24" name="Text 18"/>
          <p:cNvSpPr txBox="1"/>
          <p:nvPr/>
        </p:nvSpPr>
        <p:spPr>
          <a:xfrm>
            <a:off x="9326880" y="2788920"/>
            <a:ext cx="2057400" cy="82296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25 %</a:t>
            </a:r>
            <a:endParaRPr lang="en-US" sz="3200" dirty="0"/>
          </a:p>
        </p:txBody>
      </p:sp>
      <p:sp>
        <p:nvSpPr>
          <p:cNvPr id="25" name="Text 19"/>
          <p:cNvSpPr txBox="1"/>
          <p:nvPr/>
        </p:nvSpPr>
        <p:spPr>
          <a:xfrm>
            <a:off x="9326880" y="3703320"/>
            <a:ext cx="2057400" cy="411480"/>
          </a:xfrm>
          <a:prstGeom prst="rect">
            <a:avLst/>
          </a:prstGeom>
          <a:noFill/>
          <a:ln/>
        </p:spPr>
        <p:txBody>
          <a:bodyPr wrap="square" lIns="0" tIns="0" rIns="0" bIns="0" rtlCol="0" anchor="t"/>
          <a:lstStyle/>
          <a:p>
            <a:pPr indent="0" marL="0">
              <a:buNone/>
            </a:pPr>
            <a:r>
              <a:rPr lang="en-US" sz="1800" b="1" dirty="0">
                <a:solidFill>
                  <a:schemeClr val="tx2"/>
                </a:solidFill>
              </a:rPr>
              <a:t>Symbol rate</a:t>
            </a:r>
            <a:endParaRPr lang="en-US" sz="1800" dirty="0"/>
          </a:p>
        </p:txBody>
      </p:sp>
      <p:sp>
        <p:nvSpPr>
          <p:cNvPr id="26" name="Text 20"/>
          <p:cNvSpPr txBox="1"/>
          <p:nvPr/>
        </p:nvSpPr>
        <p:spPr>
          <a:xfrm>
            <a:off x="9326880" y="4206240"/>
            <a:ext cx="2057400" cy="1280160"/>
          </a:xfrm>
          <a:prstGeom prst="rect">
            <a:avLst/>
          </a:prstGeom>
          <a:noFill/>
          <a:ln/>
        </p:spPr>
        <p:txBody>
          <a:bodyPr wrap="square" lIns="0" tIns="0" rIns="0" bIns="0" rtlCol="0" anchor="t"/>
          <a:lstStyle/>
          <a:p>
            <a:pPr indent="0" marL="0">
              <a:buNone/>
            </a:pPr>
            <a:r>
              <a:rPr lang="en-US" sz="1400" dirty="0">
                <a:solidFill>
                  <a:schemeClr val="tx1"/>
                </a:solidFill>
              </a:rPr>
              <a:t>of clips within 2 %: the weak spot; PSK reaches 95–98 % only from 16 dB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The classifier barely matters</a:t>
            </a:r>
            <a:endParaRPr lang="en-US" sz="3200" dirty="0"/>
          </a:p>
        </p:txBody>
      </p:sp>
      <p:graphicFrame>
        <p:nvGraphicFramePr>
          <p:cNvPr id="3" name="classifier chart"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classifier takeaway"/>
          <p:cNvSpPr/>
          <p:nvPr/>
        </p:nvSpPr>
        <p:spPr>
          <a:xfrm>
            <a:off x="7863840" y="1463040"/>
            <a:ext cx="3749040" cy="4526280"/>
          </a:xfrm>
          <a:prstGeom prst="roundRect">
            <a:avLst>
              <a:gd name="adj" fmla="val 1951"/>
            </a:avLst>
          </a:prstGeom>
          <a:solidFill>
            <a:schemeClr val="bg2"/>
          </a:solidFill>
          <a:ln/>
        </p:spPr>
      </p:sp>
      <p:sp>
        <p:nvSpPr>
          <p:cNvPr id="5" name="Text 2"/>
          <p:cNvSpPr txBox="1"/>
          <p:nvPr/>
        </p:nvSpPr>
        <p:spPr>
          <a:xfrm>
            <a:off x="8138160" y="1737360"/>
            <a:ext cx="3200400" cy="731520"/>
          </a:xfrm>
          <a:prstGeom prst="rect">
            <a:avLst/>
          </a:prstGeom>
          <a:noFill/>
          <a:ln/>
        </p:spPr>
        <p:txBody>
          <a:bodyPr wrap="square" lIns="0" tIns="0" rIns="0" bIns="0" rtlCol="0" anchor="t"/>
          <a:lstStyle/>
          <a:p>
            <a:pPr indent="0" marL="0">
              <a:buNone/>
            </a:pPr>
            <a:r>
              <a:rPr lang="en-US" sz="3400" b="1" dirty="0">
                <a:solidFill>
                  <a:schemeClr val="accent1"/>
                </a:solidFill>
                <a:latin typeface="Cambria" pitchFamily="34" charset="0"/>
                <a:ea typeface="Cambria" pitchFamily="34" charset="-122"/>
                <a:cs typeface="Cambria" pitchFamily="34" charset="-120"/>
              </a:rPr>
              <a:t>78.7–79.0 %</a:t>
            </a:r>
            <a:endParaRPr lang="en-US" sz="3400" dirty="0"/>
          </a:p>
        </p:txBody>
      </p:sp>
      <p:sp>
        <p:nvSpPr>
          <p:cNvPr id="6" name="Text 3"/>
          <p:cNvSpPr txBox="1"/>
          <p:nvPr/>
        </p:nvSpPr>
        <p:spPr>
          <a:xfrm>
            <a:off x="8138160" y="2514600"/>
            <a:ext cx="3200400" cy="1371600"/>
          </a:xfrm>
          <a:prstGeom prst="rect">
            <a:avLst/>
          </a:prstGeom>
          <a:noFill/>
          <a:ln/>
        </p:spPr>
        <p:txBody>
          <a:bodyPr wrap="square" lIns="0" tIns="0" rIns="0" bIns="0" rtlCol="0" anchor="t"/>
          <a:lstStyle/>
          <a:p>
            <a:pPr indent="0" marL="0">
              <a:buNone/>
            </a:pPr>
            <a:r>
              <a:rPr lang="en-US" sz="1500" dirty="0">
                <a:solidFill>
                  <a:schemeClr val="tx1"/>
                </a:solidFill>
              </a:rPr>
              <a:t>Boosted trees, SVM and random forest are within 1.2 points of each other: the 19 features are the limit, as on RadioML.</a:t>
            </a:r>
            <a:endParaRPr lang="en-US" sz="1500" dirty="0"/>
          </a:p>
        </p:txBody>
      </p:sp>
      <p:sp>
        <p:nvSpPr>
          <p:cNvPr id="7" name="Text 4"/>
          <p:cNvSpPr txBox="1"/>
          <p:nvPr/>
        </p:nvSpPr>
        <p:spPr>
          <a:xfrm>
            <a:off x="8138160" y="3931920"/>
            <a:ext cx="320040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85 % reached only from 16 dB (boosted trees)</a:t>
            </a:r>
            <a:endParaRPr lang="en-US" sz="1400" dirty="0"/>
          </a:p>
          <a:p>
            <a:pPr marL="342900" indent="-342900">
              <a:spcAft>
                <a:spcPts val="600"/>
              </a:spcAft>
              <a:buSzPct val="100000"/>
              <a:buChar char="•"/>
            </a:pPr>
            <a:r>
              <a:rPr lang="en-US" sz="1400" dirty="0">
                <a:solidFill>
                  <a:schemeClr val="tx1"/>
                </a:solidFill>
              </a:rPr>
              <a:t>Same model on RadioML 7 classes: 99.95 %</a:t>
            </a:r>
            <a:endParaRPr lang="en-US" sz="1400" dirty="0"/>
          </a:p>
          <a:p>
            <a:pPr marL="342900" indent="-342900">
              <a:spcAft>
                <a:spcPts val="600"/>
              </a:spcAft>
              <a:buSzPct val="100000"/>
              <a:buChar char="•"/>
            </a:pPr>
            <a:r>
              <a:rPr lang="en-US" sz="1400" dirty="0">
                <a:solidFill>
                  <a:schemeClr val="tx1"/>
                </a:solidFill>
              </a:rPr>
              <a:t>* scored on BPSK, QPSK, 8PSK, 16QAM only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Wavelet features gain 4 dB</a:t>
            </a:r>
            <a:endParaRPr lang="en-US" sz="3200" dirty="0"/>
          </a:p>
        </p:txBody>
      </p:sp>
      <p:graphicFrame>
        <p:nvGraphicFramePr>
          <p:cNvPr id="3" name="wavelet vs snr chart" descr=""/>
          <p:cNvGraphicFramePr/>
          <p:nvPr/>
        </p:nvGraphicFramePr>
        <p:xfrm>
          <a:off x="548640" y="132588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4" name="wavelet takeaway"/>
          <p:cNvSpPr/>
          <p:nvPr/>
        </p:nvSpPr>
        <p:spPr>
          <a:xfrm>
            <a:off x="8229600" y="1463040"/>
            <a:ext cx="3383280" cy="4526280"/>
          </a:xfrm>
          <a:prstGeom prst="roundRect">
            <a:avLst>
              <a:gd name="adj" fmla="val 2162"/>
            </a:avLst>
          </a:prstGeom>
          <a:solidFill>
            <a:schemeClr val="bg2"/>
          </a:solidFill>
          <a:ln/>
        </p:spPr>
      </p:sp>
      <p:sp>
        <p:nvSpPr>
          <p:cNvPr id="5" name="Text 2"/>
          <p:cNvSpPr txBox="1"/>
          <p:nvPr/>
        </p:nvSpPr>
        <p:spPr>
          <a:xfrm>
            <a:off x="8503920" y="1737360"/>
            <a:ext cx="2834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12 dB</a:t>
            </a:r>
            <a:endParaRPr lang="en-US" sz="4000" dirty="0"/>
          </a:p>
        </p:txBody>
      </p:sp>
      <p:sp>
        <p:nvSpPr>
          <p:cNvPr id="6" name="Text 3"/>
          <p:cNvSpPr txBox="1"/>
          <p:nvPr/>
        </p:nvSpPr>
        <p:spPr>
          <a:xfrm>
            <a:off x="8503920" y="2514600"/>
            <a:ext cx="2834640" cy="822960"/>
          </a:xfrm>
          <a:prstGeom prst="rect">
            <a:avLst/>
          </a:prstGeom>
          <a:noFill/>
          <a:ln/>
        </p:spPr>
        <p:txBody>
          <a:bodyPr wrap="square" lIns="0" tIns="0" rIns="0" bIns="0" rtlCol="0" anchor="t"/>
          <a:lstStyle/>
          <a:p>
            <a:pPr indent="0" marL="0">
              <a:buNone/>
            </a:pPr>
            <a:r>
              <a:rPr lang="en-US" sz="1500" dirty="0">
                <a:solidFill>
                  <a:schemeClr val="tx1"/>
                </a:solidFill>
              </a:rPr>
              <a:t>to reach 85 %, instead of 16 dB with the 19 features alone</a:t>
            </a:r>
            <a:endParaRPr lang="en-US" sz="1500" dirty="0"/>
          </a:p>
        </p:txBody>
      </p:sp>
      <p:sp>
        <p:nvSpPr>
          <p:cNvPr id="7" name="Text 4"/>
          <p:cNvSpPr txBox="1"/>
          <p:nvPr/>
        </p:nvSpPr>
        <p:spPr>
          <a:xfrm>
            <a:off x="8503920" y="3474720"/>
            <a:ext cx="2834640" cy="23774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SNR ≥ 10 dB: 78.7 % → 90.2 %</a:t>
            </a:r>
            <a:endParaRPr lang="en-US" sz="1400" dirty="0"/>
          </a:p>
          <a:p>
            <a:pPr marL="342900" indent="-342900">
              <a:spcAft>
                <a:spcPts val="600"/>
              </a:spcAft>
              <a:buSzPct val="100000"/>
              <a:buChar char="•"/>
            </a:pPr>
            <a:r>
              <a:rPr lang="en-US" sz="1400" dirty="0">
                <a:solidFill>
                  <a:schemeClr val="tx1"/>
                </a:solidFill>
              </a:rPr>
              <a:t>0 dB: 25 % → 41 %</a:t>
            </a:r>
            <a:endParaRPr lang="en-US" sz="1400" dirty="0"/>
          </a:p>
          <a:p>
            <a:pPr marL="342900" indent="-342900">
              <a:spcAft>
                <a:spcPts val="600"/>
              </a:spcAft>
              <a:buSzPct val="100000"/>
              <a:buChar char="•"/>
            </a:pPr>
            <a:r>
              <a:rPr lang="en-US" sz="1400" dirty="0">
                <a:solidFill>
                  <a:schemeClr val="tx1"/>
                </a:solidFill>
              </a:rPr>
              <a:t>Histogram entropies add only 0.6 points</a:t>
            </a:r>
            <a:endParaRPr lang="en-US" sz="1400" dirty="0"/>
          </a:p>
          <a:p>
            <a:pPr marL="342900" indent="-342900">
              <a:spcAft>
                <a:spcPts val="600"/>
              </a:spcAft>
              <a:buSzPct val="100000"/>
              <a:buChar char="•"/>
            </a:pPr>
            <a:r>
              <a:rPr lang="en-US" sz="1400" dirty="0">
                <a:solidFill>
                  <a:schemeClr val="tx1"/>
                </a:solidFill>
              </a:rPr>
              <a:t>On RadioML the same features added 1–2 points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Best model, per class and SNR</a:t>
            </a:r>
            <a:endParaRPr lang="en-US" sz="3200" dirty="0"/>
          </a:p>
        </p:txBody>
      </p:sp>
      <p:sp>
        <p:nvSpPr>
          <p:cNvPr id="3" name="Text 1"/>
          <p:cNvSpPr txBox="1"/>
          <p:nvPr/>
        </p:nvSpPr>
        <p:spPr>
          <a:xfrm>
            <a:off x="548640" y="1188720"/>
            <a:ext cx="11064240" cy="320040"/>
          </a:xfrm>
          <a:prstGeom prst="rect">
            <a:avLst/>
          </a:prstGeom>
          <a:noFill/>
          <a:ln/>
        </p:spPr>
        <p:txBody>
          <a:bodyPr wrap="square" lIns="0" tIns="0" rIns="0" bIns="0" rtlCol="0" anchor="t"/>
          <a:lstStyle/>
          <a:p>
            <a:pPr indent="0" marL="0">
              <a:buNone/>
            </a:pPr>
            <a:r>
              <a:rPr lang="en-US" sz="1300" dirty="0">
                <a:solidFill>
                  <a:schemeClr val="accent3"/>
                </a:solidFill>
              </a:rPr>
              <a:t>Accuracy (%) of boosted trees on 19 + 24 wavelet features, test split, about 150 clips per cell; darker = more correct</a:t>
            </a:r>
            <a:endParaRPr lang="en-US" sz="1300" dirty="0"/>
          </a:p>
        </p:txBody>
      </p:sp>
      <p:graphicFrame>
        <p:nvGraphicFramePr>
          <p:cNvPr id="11" name="best model heatmap"/>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188720"/>
                <a:gridCol w="617220"/>
                <a:gridCol w="617220"/>
                <a:gridCol w="617220"/>
                <a:gridCol w="617220"/>
                <a:gridCol w="617220"/>
                <a:gridCol w="617220"/>
                <a:gridCol w="617220"/>
                <a:gridCol w="617220"/>
                <a:gridCol w="617220"/>
                <a:gridCol w="617220"/>
                <a:gridCol w="617220"/>
                <a:gridCol w="617220"/>
                <a:gridCol w="617220"/>
                <a:gridCol w="617220"/>
                <a:gridCol w="617220"/>
                <a:gridCol w="617220"/>
              </a:tblGrid>
              <a:tr h="310896">
                <a:tc>
                  <a:txBody>
                    <a:bodyPr/>
                    <a:lstStyle/>
                    <a:p>
                      <a:pPr algn="l" indent="0" marL="0">
                        <a:buNone/>
                      </a:pPr>
                      <a:r>
                        <a:rPr lang="en-US" sz="1000" b="1" dirty="0">
                          <a:solidFill>
                            <a:schemeClr val="tx2"/>
                          </a:solidFill>
                          <a:latin typeface="Calibri" pitchFamily="34" charset="0"/>
                          <a:ea typeface="Calibri" pitchFamily="34" charset="-122"/>
                          <a:cs typeface="Calibri" pitchFamily="34" charset="-120"/>
                        </a:rPr>
                        <a:t>SNR (dB)</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AM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CDAD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9C8C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4B4B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EB0B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A0A7"/>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9CA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79BA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C959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C959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8E9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E969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D8D9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NBFM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8F8"/>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4E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7E0E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FD2"/>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3C4C9"/>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ABFC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ABFC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FB9B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DB8B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9AEB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CAFB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7ACB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6A3A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D9EA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A0A7"/>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WBFM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AF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BE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CDAD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8D0D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4CDD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8BEC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2B2B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5ABB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A2A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8A4A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A0A7"/>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9CA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98A0"/>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9CA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939B"/>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OOK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0DDD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0CBC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FB9B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5ABB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4A2A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9DA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79BA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C959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9AA1"/>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939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18F9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C959D"/>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2FSK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8F8"/>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7E9"/>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9C8C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9B6B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CA7A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298A0"/>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939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D8D9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4FSK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DE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CECE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E3E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BE3E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AD9D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2CCD0"/>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0C3C7"/>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AA5A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A0A7"/>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9AA1"/>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949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949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939B"/>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GMSK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FEF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AE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AD9D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FD2"/>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1BBC0"/>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2B2B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9DA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949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18F9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BPSK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AE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5D7D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DB8B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1A9B0"/>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8E9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8E9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D8D9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D8D9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QPSK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8F8"/>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F2F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BE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AE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CDAD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EC2C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7ACB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FA0A7"/>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7939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PI4DQPSK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FEF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AF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8F8"/>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7"/>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1EEF0"/>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AEBE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2DEE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AD1D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4CDD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CFD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EB0B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79BA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D8D95"/>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8PSK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DFEF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8F8"/>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BF4F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5E7"/>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4E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ABFC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3AAB1"/>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949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16QAM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DF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0F7F7"/>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FE5E7"/>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FB9B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3909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r>
              <a:tr h="310896">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OFDM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9E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CDADD"/>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AD1D5"/>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CC1C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9AEB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EA8A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D9EA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91</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A949C"/>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88A93"/>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Remaining errors are look-alike pairs</a:t>
            </a:r>
            <a:endParaRPr lang="en-US" sz="3200" dirty="0"/>
          </a:p>
        </p:txBody>
      </p:sp>
      <p:graphicFrame>
        <p:nvGraphicFramePr>
          <p:cNvPr id="3" name="19 features: % of a class called the wrong class" descr=""/>
          <p:cNvGraphicFramePr/>
          <p:nvPr/>
        </p:nvGraphicFramePr>
        <p:xfrm>
          <a:off x="548640" y="1325880"/>
          <a:ext cx="53949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19 + wavelet features: same measure" descr=""/>
          <p:cNvGraphicFramePr/>
          <p:nvPr/>
        </p:nvGraphicFramePr>
        <p:xfrm>
          <a:off x="6217920" y="1325880"/>
          <a:ext cx="5394960" cy="40233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500" dirty="0">
                <a:solidFill>
                  <a:schemeClr val="tx1"/>
                </a:solidFill>
              </a:rPr>
              <a:t>SNR ≥ 10 dB. Voice vs broadcast FM and QPSK vs π/4-DQPSK vs 8PSK stay hard for every classical feature set: this is where the CNN must win.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Likelihood is only 2 dB ahead</a:t>
            </a:r>
            <a:endParaRPr lang="en-US" sz="3200" dirty="0"/>
          </a:p>
        </p:txBody>
      </p:sp>
      <p:graphicFrame>
        <p:nvGraphicFramePr>
          <p:cNvPr id="3" name="likelihood chart" descr=""/>
          <p:cNvGraphicFramePr/>
          <p:nvPr/>
        </p:nvGraphicFramePr>
        <p:xfrm>
          <a:off x="548640" y="132588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4" name="likelihood takeaways"/>
          <p:cNvSpPr/>
          <p:nvPr/>
        </p:nvSpPr>
        <p:spPr>
          <a:xfrm>
            <a:off x="8229600" y="1463040"/>
            <a:ext cx="3383280" cy="4526280"/>
          </a:xfrm>
          <a:prstGeom prst="roundRect">
            <a:avLst>
              <a:gd name="adj" fmla="val 2162"/>
            </a:avLst>
          </a:prstGeom>
          <a:solidFill>
            <a:schemeClr val="bg2"/>
          </a:solidFill>
          <a:ln/>
        </p:spPr>
      </p:sp>
      <p:sp>
        <p:nvSpPr>
          <p:cNvPr id="5" name="Text 2"/>
          <p:cNvSpPr txBox="1"/>
          <p:nvPr/>
        </p:nvSpPr>
        <p:spPr>
          <a:xfrm>
            <a:off x="8503920" y="1737360"/>
            <a:ext cx="2834640" cy="4114800"/>
          </a:xfrm>
          <a:prstGeom prst="rect">
            <a:avLst/>
          </a:prstGeom>
          <a:noFill/>
          <a:ln/>
        </p:spPr>
        <p:txBody>
          <a:bodyPr wrap="square" lIns="0" tIns="0" rIns="0" bIns="0" rtlCol="0" anchor="t"/>
          <a:lstStyle/>
          <a:p>
            <a:pPr indent="0" marL="0">
              <a:buNone/>
            </a:pPr>
            <a:r>
              <a:rPr lang="en-US" sz="1500" b="1" dirty="0">
                <a:solidFill>
                  <a:schemeClr val="accent1"/>
                </a:solidFill>
              </a:rPr>
              <a:t>85 % at 10 dB</a:t>
            </a:r>
            <a:endParaRPr lang="en-US" sz="1500" dirty="0"/>
          </a:p>
          <a:p>
            <a:pPr indent="0" marL="0">
              <a:buNone/>
            </a:pPr>
            <a:r>
              <a:rPr lang="en-US" sz="1500" dirty="0">
                <a:solidFill>
                  <a:schemeClr val="tx1"/>
                </a:solidFill>
              </a:rPr>
              <a:t>ALRT with the true symbol rate; features need 12 dB</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1"/>
                </a:solidFill>
              </a:rPr>
              <a:t>π/4-DQPSK → QPSK</a:t>
            </a:r>
            <a:endParaRPr lang="en-US" sz="1500" dirty="0"/>
          </a:p>
          <a:p>
            <a:pPr indent="0" marL="0">
              <a:buNone/>
            </a:pPr>
            <a:r>
              <a:rPr lang="en-US" sz="1500" dirty="0">
                <a:solidFill>
                  <a:schemeClr val="tx1"/>
                </a:solidFill>
              </a:rPr>
              <a:t>100 % of clips: no hypothesis for it</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accent1"/>
                </a:solidFill>
              </a:rPr>
              <a:t>Rule-based trees fail</a:t>
            </a:r>
            <a:endParaRPr lang="en-US" sz="1500" dirty="0"/>
          </a:p>
          <a:p>
            <a:pPr indent="0" marL="0">
              <a:buNone/>
            </a:pPr>
            <a:r>
              <a:rPr lang="en-US" sz="1500" dirty="0">
                <a:solidFill>
                  <a:schemeClr val="tx1"/>
                </a:solidFill>
              </a:rPr>
              <a:t>Azzouz–Nandi 58.7 % (8PSK 1 %); Swami–Sadler 16QAM 20 % (M2M4 bias)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Eigenvalue detectors beat energy by 6 dB</a:t>
            </a:r>
            <a:endParaRPr lang="en-US" sz="3200" dirty="0"/>
          </a:p>
        </p:txBody>
      </p:sp>
      <p:graphicFrame>
        <p:nvGraphicFramePr>
          <p:cNvPr id="3" name="detection chart" descr=""/>
          <p:cNvGraphicFramePr/>
          <p:nvPr/>
        </p:nvGraphicFramePr>
        <p:xfrm>
          <a:off x="548640" y="132588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4" name="detection takeaways"/>
          <p:cNvSpPr/>
          <p:nvPr/>
        </p:nvSpPr>
        <p:spPr>
          <a:xfrm>
            <a:off x="8229600" y="1463040"/>
            <a:ext cx="3383280" cy="4526280"/>
          </a:xfrm>
          <a:prstGeom prst="roundRect">
            <a:avLst>
              <a:gd name="adj" fmla="val 2162"/>
            </a:avLst>
          </a:prstGeom>
          <a:solidFill>
            <a:schemeClr val="bg2"/>
          </a:solidFill>
          <a:ln/>
        </p:spPr>
      </p:sp>
      <p:sp>
        <p:nvSpPr>
          <p:cNvPr id="5" name="Text 2"/>
          <p:cNvSpPr txBox="1"/>
          <p:nvPr/>
        </p:nvSpPr>
        <p:spPr>
          <a:xfrm>
            <a:off x="8503920" y="1737360"/>
            <a:ext cx="28346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 dB</a:t>
            </a:r>
            <a:endParaRPr lang="en-US" sz="4000" dirty="0"/>
          </a:p>
        </p:txBody>
      </p:sp>
      <p:sp>
        <p:nvSpPr>
          <p:cNvPr id="6" name="Text 3"/>
          <p:cNvSpPr txBox="1"/>
          <p:nvPr/>
        </p:nvSpPr>
        <p:spPr>
          <a:xfrm>
            <a:off x="8503920" y="2514600"/>
            <a:ext cx="2834640" cy="822960"/>
          </a:xfrm>
          <a:prstGeom prst="rect">
            <a:avLst/>
          </a:prstGeom>
          <a:noFill/>
          <a:ln/>
        </p:spPr>
        <p:txBody>
          <a:bodyPr wrap="square" lIns="0" tIns="0" rIns="0" bIns="0" rtlCol="0" anchor="t"/>
          <a:lstStyle/>
          <a:p>
            <a:pPr indent="0" marL="0">
              <a:buNone/>
            </a:pPr>
            <a:r>
              <a:rPr lang="en-US" sz="1500" dirty="0">
                <a:solidFill>
                  <a:schemeClr val="tx1"/>
                </a:solidFill>
              </a:rPr>
              <a:t>for Pd 90 % with John or CAV; energy needs 6 dB</a:t>
            </a:r>
            <a:endParaRPr lang="en-US" sz="1500" dirty="0"/>
          </a:p>
        </p:txBody>
      </p:sp>
      <p:sp>
        <p:nvSpPr>
          <p:cNvPr id="7" name="Text 4"/>
          <p:cNvSpPr txBox="1"/>
          <p:nvPr/>
        </p:nvSpPr>
        <p:spPr>
          <a:xfrm>
            <a:off x="8503920" y="3429000"/>
            <a:ext cx="283464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Signals fill only 10–35 % of the band, so samples are strongly correlated</a:t>
            </a:r>
            <a:endParaRPr lang="en-US" sz="1400" dirty="0"/>
          </a:p>
          <a:p>
            <a:pPr marL="342900" indent="-342900">
              <a:spcAft>
                <a:spcPts val="600"/>
              </a:spcAft>
              <a:buSzPct val="100000"/>
              <a:buChar char="•"/>
            </a:pPr>
            <a:r>
              <a:rPr lang="en-US" sz="1400" dirty="0">
                <a:solidFill>
                  <a:schemeClr val="tx1"/>
                </a:solidFill>
              </a:rPr>
              <a:t>Measured Pfa on 2,382 test NOISE clips: 0.8–1.6 % for a 1 % target</a:t>
            </a:r>
            <a:endParaRPr lang="en-US" sz="1400" dirty="0"/>
          </a:p>
          <a:p>
            <a:pPr marL="342900" indent="-342900">
              <a:spcAft>
                <a:spcPts val="600"/>
              </a:spcAft>
              <a:buSzPct val="100000"/>
              <a:buChar char="•"/>
            </a:pPr>
            <a:r>
              <a:rPr lang="en-US" sz="1400" dirty="0">
                <a:solidFill>
                  <a:schemeClr val="tx1"/>
                </a:solidFill>
              </a:rPr>
              <a:t>Opposite of the TorchSig ranking, where energy won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Carrier and SNR estimation transfer well</a:t>
            </a:r>
            <a:endParaRPr lang="en-US" sz="3200" dirty="0"/>
          </a:p>
        </p:txBody>
      </p:sp>
      <p:sp>
        <p:nvSpPr>
          <p:cNvPr id="3" name="card Carrier error"/>
          <p:cNvSpPr/>
          <p:nvPr/>
        </p:nvSpPr>
        <p:spPr>
          <a:xfrm>
            <a:off x="548640" y="1371600"/>
            <a:ext cx="4023360" cy="1371600"/>
          </a:xfrm>
          <a:prstGeom prst="roundRect">
            <a:avLst>
              <a:gd name="adj" fmla="val 5333"/>
            </a:avLst>
          </a:prstGeom>
          <a:solidFill>
            <a:schemeClr val="bg2"/>
          </a:solidFill>
          <a:ln/>
        </p:spPr>
      </p:sp>
      <p:sp>
        <p:nvSpPr>
          <p:cNvPr id="4" name="Text 2"/>
          <p:cNvSpPr txBox="1"/>
          <p:nvPr/>
        </p:nvSpPr>
        <p:spPr>
          <a:xfrm>
            <a:off x="731520" y="1554480"/>
            <a:ext cx="146304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2.1 %</a:t>
            </a:r>
            <a:endParaRPr lang="en-US" sz="2800" dirty="0"/>
          </a:p>
        </p:txBody>
      </p:sp>
      <p:sp>
        <p:nvSpPr>
          <p:cNvPr id="5" name="Text 3"/>
          <p:cNvSpPr txBox="1"/>
          <p:nvPr/>
        </p:nvSpPr>
        <p:spPr>
          <a:xfrm>
            <a:off x="2286000" y="1508760"/>
            <a:ext cx="2148840" cy="365760"/>
          </a:xfrm>
          <a:prstGeom prst="rect">
            <a:avLst/>
          </a:prstGeom>
          <a:noFill/>
          <a:ln/>
        </p:spPr>
        <p:txBody>
          <a:bodyPr wrap="square" lIns="0" tIns="0" rIns="0" bIns="0" rtlCol="0" anchor="t"/>
          <a:lstStyle/>
          <a:p>
            <a:pPr indent="0" marL="0">
              <a:buNone/>
            </a:pPr>
            <a:r>
              <a:rPr lang="en-US" sz="1600" b="1" dirty="0">
                <a:solidFill>
                  <a:schemeClr val="tx2"/>
                </a:solidFill>
              </a:rPr>
              <a:t>Carrier error</a:t>
            </a:r>
            <a:endParaRPr lang="en-US" sz="1600" dirty="0"/>
          </a:p>
        </p:txBody>
      </p:sp>
      <p:sp>
        <p:nvSpPr>
          <p:cNvPr id="6" name="Text 4"/>
          <p:cNvSpPr txBox="1"/>
          <p:nvPr/>
        </p:nvSpPr>
        <p:spPr>
          <a:xfrm>
            <a:off x="2286000" y="1874520"/>
            <a:ext cx="2148840" cy="822960"/>
          </a:xfrm>
          <a:prstGeom prst="rect">
            <a:avLst/>
          </a:prstGeom>
          <a:noFill/>
          <a:ln/>
        </p:spPr>
        <p:txBody>
          <a:bodyPr wrap="square" lIns="0" tIns="0" rIns="0" bIns="0" rtlCol="0" anchor="t"/>
          <a:lstStyle/>
          <a:p>
            <a:pPr indent="0" marL="0">
              <a:buNone/>
            </a:pPr>
            <a:r>
              <a:rPr lang="en-US" sz="1300" dirty="0">
                <a:solidFill>
                  <a:schemeClr val="tx1"/>
                </a:solidFill>
              </a:rPr>
              <a:t>of the true bandwidth (power centroid); 0.8–3.9 % from 0 dB up</a:t>
            </a:r>
            <a:endParaRPr lang="en-US" sz="1300" dirty="0"/>
          </a:p>
        </p:txBody>
      </p:sp>
      <p:sp>
        <p:nvSpPr>
          <p:cNvPr id="7" name="card Bandwidth error"/>
          <p:cNvSpPr/>
          <p:nvPr/>
        </p:nvSpPr>
        <p:spPr>
          <a:xfrm>
            <a:off x="548640" y="2926080"/>
            <a:ext cx="4023360" cy="1371600"/>
          </a:xfrm>
          <a:prstGeom prst="roundRect">
            <a:avLst>
              <a:gd name="adj" fmla="val 5333"/>
            </a:avLst>
          </a:prstGeom>
          <a:solidFill>
            <a:schemeClr val="bg2"/>
          </a:solidFill>
          <a:ln/>
        </p:spPr>
      </p:sp>
      <p:sp>
        <p:nvSpPr>
          <p:cNvPr id="8" name="Text 6"/>
          <p:cNvSpPr txBox="1"/>
          <p:nvPr/>
        </p:nvSpPr>
        <p:spPr>
          <a:xfrm>
            <a:off x="731520" y="3108960"/>
            <a:ext cx="146304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15 %</a:t>
            </a:r>
            <a:endParaRPr lang="en-US" sz="2800" dirty="0"/>
          </a:p>
        </p:txBody>
      </p:sp>
      <p:sp>
        <p:nvSpPr>
          <p:cNvPr id="9" name="Text 7"/>
          <p:cNvSpPr txBox="1"/>
          <p:nvPr/>
        </p:nvSpPr>
        <p:spPr>
          <a:xfrm>
            <a:off x="2286000" y="3063240"/>
            <a:ext cx="2148840" cy="365760"/>
          </a:xfrm>
          <a:prstGeom prst="rect">
            <a:avLst/>
          </a:prstGeom>
          <a:noFill/>
          <a:ln/>
        </p:spPr>
        <p:txBody>
          <a:bodyPr wrap="square" lIns="0" tIns="0" rIns="0" bIns="0" rtlCol="0" anchor="t"/>
          <a:lstStyle/>
          <a:p>
            <a:pPr indent="0" marL="0">
              <a:buNone/>
            </a:pPr>
            <a:r>
              <a:rPr lang="en-US" sz="1600" b="1" dirty="0">
                <a:solidFill>
                  <a:schemeClr val="tx2"/>
                </a:solidFill>
              </a:rPr>
              <a:t>Bandwidth error</a:t>
            </a:r>
            <a:endParaRPr lang="en-US" sz="1600" dirty="0"/>
          </a:p>
        </p:txBody>
      </p:sp>
      <p:sp>
        <p:nvSpPr>
          <p:cNvPr id="10" name="Text 8"/>
          <p:cNvSpPr txBox="1"/>
          <p:nvPr/>
        </p:nvSpPr>
        <p:spPr>
          <a:xfrm>
            <a:off x="2286000" y="3429000"/>
            <a:ext cx="2148840" cy="822960"/>
          </a:xfrm>
          <a:prstGeom prst="rect">
            <a:avLst/>
          </a:prstGeom>
          <a:noFill/>
          <a:ln/>
        </p:spPr>
        <p:txBody>
          <a:bodyPr wrap="square" lIns="0" tIns="0" rIns="0" bIns="0" rtlCol="0" anchor="t"/>
          <a:lstStyle/>
          <a:p>
            <a:pPr indent="0" marL="0">
              <a:buNone/>
            </a:pPr>
            <a:r>
              <a:rPr lang="en-US" sz="1300" dirty="0">
                <a:solidFill>
                  <a:schemeClr val="tx1"/>
                </a:solidFill>
              </a:rPr>
              <a:t>99 % occupied bandwidth; only 2–4 % from 10 dB up</a:t>
            </a:r>
            <a:endParaRPr lang="en-US" sz="1300" dirty="0"/>
          </a:p>
        </p:txBody>
      </p:sp>
      <p:sp>
        <p:nvSpPr>
          <p:cNvPr id="11" name="card SNR error"/>
          <p:cNvSpPr/>
          <p:nvPr/>
        </p:nvSpPr>
        <p:spPr>
          <a:xfrm>
            <a:off x="548640" y="4480560"/>
            <a:ext cx="4023360" cy="1371600"/>
          </a:xfrm>
          <a:prstGeom prst="roundRect">
            <a:avLst>
              <a:gd name="adj" fmla="val 5333"/>
            </a:avLst>
          </a:prstGeom>
          <a:solidFill>
            <a:schemeClr val="bg2"/>
          </a:solidFill>
          <a:ln/>
        </p:spPr>
      </p:sp>
      <p:sp>
        <p:nvSpPr>
          <p:cNvPr id="12" name="Text 10"/>
          <p:cNvSpPr txBox="1"/>
          <p:nvPr/>
        </p:nvSpPr>
        <p:spPr>
          <a:xfrm>
            <a:off x="731520" y="4663440"/>
            <a:ext cx="1463040" cy="100584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0.58 dB</a:t>
            </a:r>
            <a:endParaRPr lang="en-US" sz="2800" dirty="0"/>
          </a:p>
        </p:txBody>
      </p:sp>
      <p:sp>
        <p:nvSpPr>
          <p:cNvPr id="13" name="Text 11"/>
          <p:cNvSpPr txBox="1"/>
          <p:nvPr/>
        </p:nvSpPr>
        <p:spPr>
          <a:xfrm>
            <a:off x="2286000" y="4617720"/>
            <a:ext cx="2148840" cy="365760"/>
          </a:xfrm>
          <a:prstGeom prst="rect">
            <a:avLst/>
          </a:prstGeom>
          <a:noFill/>
          <a:ln/>
        </p:spPr>
        <p:txBody>
          <a:bodyPr wrap="square" lIns="0" tIns="0" rIns="0" bIns="0" rtlCol="0" anchor="t"/>
          <a:lstStyle/>
          <a:p>
            <a:pPr indent="0" marL="0">
              <a:buNone/>
            </a:pPr>
            <a:r>
              <a:rPr lang="en-US" sz="1600" b="1" dirty="0">
                <a:solidFill>
                  <a:schemeClr val="tx2"/>
                </a:solidFill>
              </a:rPr>
              <a:t>SNR error</a:t>
            </a:r>
            <a:endParaRPr lang="en-US" sz="1600" dirty="0"/>
          </a:p>
        </p:txBody>
      </p:sp>
      <p:sp>
        <p:nvSpPr>
          <p:cNvPr id="14" name="Text 12"/>
          <p:cNvSpPr txBox="1"/>
          <p:nvPr/>
        </p:nvSpPr>
        <p:spPr>
          <a:xfrm>
            <a:off x="2286000" y="4983480"/>
            <a:ext cx="2148840" cy="822960"/>
          </a:xfrm>
          <a:prstGeom prst="rect">
            <a:avLst/>
          </a:prstGeom>
          <a:noFill/>
          <a:ln/>
        </p:spPr>
        <p:txBody>
          <a:bodyPr wrap="square" lIns="0" tIns="0" rIns="0" bIns="0" rtlCol="0" anchor="t"/>
          <a:lstStyle/>
          <a:p>
            <a:pPr indent="0" marL="0">
              <a:buNone/>
            </a:pPr>
            <a:r>
              <a:rPr lang="en-US" sz="1300" dirty="0">
                <a:solidFill>
                  <a:schemeClr val="tx1"/>
                </a:solidFill>
              </a:rPr>
              <a:t>in-band PSD over the true band; 0.85 dB over the estimated band</a:t>
            </a:r>
            <a:endParaRPr lang="en-US" sz="1300" dirty="0"/>
          </a:p>
        </p:txBody>
      </p:sp>
      <p:graphicFrame>
        <p:nvGraphicFramePr>
          <p:cNvPr id="15" name="snr error chart" descr=""/>
          <p:cNvGraphicFramePr/>
          <p:nvPr/>
        </p:nvGraphicFramePr>
        <p:xfrm>
          <a:off x="484632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Symbol rate is the weak spot</a:t>
            </a:r>
            <a:endParaRPr lang="en-US" sz="3200" dirty="0"/>
          </a:p>
        </p:txBody>
      </p:sp>
      <p:sp>
        <p:nvSpPr>
          <p:cNvPr id="3" name="Text 1"/>
          <p:cNvSpPr txBox="1"/>
          <p:nvPr/>
        </p:nvSpPr>
        <p:spPr>
          <a:xfrm>
            <a:off x="548640" y="1188720"/>
            <a:ext cx="11064240" cy="320040"/>
          </a:xfrm>
          <a:prstGeom prst="rect">
            <a:avLst/>
          </a:prstGeom>
          <a:noFill/>
          <a:ln/>
        </p:spPr>
        <p:txBody>
          <a:bodyPr wrap="square" lIns="0" tIns="0" rIns="0" bIns="0" rtlCol="0" anchor="t"/>
          <a:lstStyle/>
          <a:p>
            <a:pPr indent="0" marL="0">
              <a:buNone/>
            </a:pPr>
            <a:r>
              <a:rPr lang="en-US" sz="1300" dirty="0">
                <a:solidFill>
                  <a:schemeClr val="accent3"/>
                </a:solidFill>
              </a:rPr>
              <a:t>Clips with the symbol rate within 2 % (%), 12-estimator consensus with Cem and Ege's frozen settings, 40 test clips per cell</a:t>
            </a:r>
            <a:endParaRPr lang="en-US" sz="1300" dirty="0"/>
          </a:p>
        </p:txBody>
      </p:sp>
      <p:graphicFrame>
        <p:nvGraphicFramePr>
          <p:cNvPr id="16" name="symbol rate heatmap"/>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1188720"/>
                <a:gridCol w="617220"/>
                <a:gridCol w="617220"/>
                <a:gridCol w="617220"/>
                <a:gridCol w="617220"/>
                <a:gridCol w="617220"/>
                <a:gridCol w="617220"/>
                <a:gridCol w="617220"/>
                <a:gridCol w="617220"/>
                <a:gridCol w="617220"/>
                <a:gridCol w="617220"/>
                <a:gridCol w="617220"/>
                <a:gridCol w="617220"/>
                <a:gridCol w="617220"/>
                <a:gridCol w="617220"/>
                <a:gridCol w="617220"/>
                <a:gridCol w="617220"/>
              </a:tblGrid>
              <a:tr h="384048">
                <a:tc>
                  <a:txBody>
                    <a:bodyPr/>
                    <a:lstStyle/>
                    <a:p>
                      <a:pPr algn="l" indent="0" marL="0">
                        <a:buNone/>
                      </a:pPr>
                      <a:r>
                        <a:rPr lang="en-US" sz="1000" b="1" dirty="0">
                          <a:solidFill>
                            <a:schemeClr val="tx2"/>
                          </a:solidFill>
                          <a:latin typeface="Calibri" pitchFamily="34" charset="0"/>
                          <a:ea typeface="Calibri" pitchFamily="34" charset="-122"/>
                          <a:cs typeface="Calibri" pitchFamily="34" charset="-120"/>
                        </a:rPr>
                        <a:t>SNR (dB)</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b="1" dirty="0">
                          <a:solidFill>
                            <a:schemeClr val="tx2"/>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OOK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3C4C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7ACB3"/>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2FSK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DE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7C6CB"/>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2B2B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7ACB3"/>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7ACB3"/>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4FSK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3F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AE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8D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DB8BE"/>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GMSK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DE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3BCC1"/>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6B5B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C959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BPSK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4E7E9"/>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CC1C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CA7AD"/>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9DA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18F98"/>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QPSK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8EAE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DD2D6"/>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CAFB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5919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18F98"/>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PI4DQPSK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6F6"/>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2DEE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CAFB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6A3A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5919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18F98"/>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8PSK</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9E2E4"/>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EDCDE"/>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1A9B0"/>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35919A"/>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68992"/>
                    </a:solidFill>
                  </a:tcPr>
                </a:tc>
              </a:tr>
              <a:tr h="384048">
                <a:tc>
                  <a:txBody>
                    <a:bodyPr/>
                    <a:lstStyle/>
                    <a:p>
                      <a:pPr algn="l" indent="0" marL="0">
                        <a:buNone/>
                      </a:pPr>
                      <a:r>
                        <a:rPr lang="en-US" sz="1100" b="1" dirty="0">
                          <a:solidFill>
                            <a:schemeClr val="tx1"/>
                          </a:solidFill>
                          <a:latin typeface="Calibri" pitchFamily="34" charset="0"/>
                          <a:ea typeface="Calibri" pitchFamily="34" charset="-122"/>
                          <a:cs typeface="Calibri" pitchFamily="34" charset="-120"/>
                        </a:rPr>
                        <a:t>16QAM</a:t>
                      </a:r>
                      <a:endParaRPr lang="en-US" sz="11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8FBFC"/>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F9FA"/>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0F1"/>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7D8DB"/>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40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8D0D3"/>
                    </a:solidFill>
                  </a:tcPr>
                </a:tc>
                <a:tc>
                  <a:txBody>
                    <a:bodyPr/>
                    <a:lstStyle/>
                    <a:p>
                      <a:pPr algn="ctr" indent="0" marL="0">
                        <a:buNone/>
                      </a:pPr>
                      <a:r>
                        <a:rPr lang="en-US" sz="1000" dirty="0">
                          <a:solidFill>
                            <a:schemeClr val="tx1"/>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3C4C9"/>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CAFB5"/>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0979F"/>
                    </a:solidFill>
                  </a:tcPr>
                </a:tc>
                <a:tc>
                  <a:txBody>
                    <a:bodyPr/>
                    <a:lstStyle/>
                    <a:p>
                      <a:pPr algn="ctr" indent="0" marL="0">
                        <a:buNone/>
                      </a:pPr>
                      <a:r>
                        <a:rPr lang="en-US" sz="1000" dirty="0">
                          <a:solidFill>
                            <a:schemeClr val="bg1"/>
                          </a:solidFill>
                          <a:latin typeface="Calibri" pitchFamily="34" charset="0"/>
                          <a:ea typeface="Calibri" pitchFamily="34" charset="-122"/>
                          <a:cs typeface="Calibri" pitchFamily="34" charset="-120"/>
                        </a:rPr>
                        <a:t>98</a:t>
                      </a:r>
                      <a:endParaRPr lang="en-US" sz="1000" dirty="0">
                        <a:latin typeface="Calibri" charset="0"/>
                        <a:ea typeface="Calibri" charset="0"/>
                        <a:cs typeface="Calibri" charset="0"/>
                      </a:endParaRPr>
                    </a:p>
                  </a:txBody>
                  <a:tcPr marL="18288" marR="18288" marT="18288" marB="18288"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A8B94"/>
                    </a:solidFill>
                  </a:tcPr>
                </a:tc>
              </a:tr>
            </a:tbl>
          </a:graphicData>
        </a:graphic>
      </p:graphicFrame>
      <p:sp>
        <p:nvSpPr>
          <p:cNvPr id="5" name="Text 2"/>
          <p:cNvSpPr txBox="1"/>
          <p:nvPr/>
        </p:nvSpPr>
        <p:spPr>
          <a:xfrm>
            <a:off x="548640" y="5577840"/>
            <a:ext cx="11064240" cy="685800"/>
          </a:xfrm>
          <a:prstGeom prst="rect">
            <a:avLst/>
          </a:prstGeom>
          <a:noFill/>
          <a:ln/>
        </p:spPr>
        <p:txBody>
          <a:bodyPr wrap="square" lIns="0" tIns="0" rIns="0" bIns="0" rtlCol="0" anchor="t"/>
          <a:lstStyle/>
          <a:p>
            <a:pPr indent="0" marL="0">
              <a:buNone/>
            </a:pPr>
            <a:r>
              <a:rPr lang="en-US" sz="1400" b="1" dirty="0">
                <a:solidFill>
                  <a:schemeClr val="tx2"/>
                </a:solidFill>
              </a:rPr>
              <a:t>Why only 25 % overall (90 % on TorchSig): </a:t>
            </a:r>
            <a:pPr indent="0" marL="0">
              <a:buNone/>
            </a:pPr>
            <a:r>
              <a:rPr lang="en-US" sz="1400" dirty="0">
                <a:solidFill>
                  <a:schemeClr val="tx1"/>
                </a:solidFill>
              </a:rPr>
              <a:t>clips are 1,024 samples instead of 4,096; Es/N0 puts the per-sample SNR 5–15 dB below Z; 16 % of 2FSK and 14 % of 4FSK clips have more than 25 samples per symbol, outside every estimator's search range.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Caveats and next steps</a:t>
            </a:r>
            <a:endParaRPr lang="en-US" sz="3200" dirty="0"/>
          </a:p>
        </p:txBody>
      </p:sp>
      <p:sp>
        <p:nvSpPr>
          <p:cNvPr id="3" name="Caveats circle"/>
          <p:cNvSpPr/>
          <p:nvPr/>
        </p:nvSpPr>
        <p:spPr>
          <a:xfrm>
            <a:off x="548640" y="1463040"/>
            <a:ext cx="640080" cy="640080"/>
          </a:xfrm>
          <a:prstGeom prst="ellipse">
            <a:avLst/>
          </a:prstGeom>
          <a:solidFill>
            <a:schemeClr val="accent1"/>
          </a:solidFill>
          <a:ln/>
        </p:spPr>
      </p:sp>
      <p:pic>
        <p:nvPicPr>
          <p:cNvPr id="4" name="Caveats icon" descr="Caveats">    </p:cNvPr>
          <p:cNvPicPr>
            <a:picLocks noChangeAspect="1"/>
          </p:cNvPicPr>
          <p:nvPr/>
        </p:nvPicPr>
        <p:blipFill>
          <a:blip r:embed="rId1"/>
          <a:stretch>
            <a:fillRect/>
          </a:stretch>
        </p:blipFill>
        <p:spPr>
          <a:xfrm>
            <a:off x="689458" y="1603858"/>
            <a:ext cx="358445" cy="358445"/>
          </a:xfrm>
          <a:prstGeom prst="rect">
            <a:avLst/>
          </a:prstGeom>
        </p:spPr>
      </p:pic>
      <p:sp>
        <p:nvSpPr>
          <p:cNvPr id="5" name="Text 2"/>
          <p:cNvSpPr txBox="1"/>
          <p:nvPr/>
        </p:nvSpPr>
        <p:spPr>
          <a:xfrm>
            <a:off x="1371600" y="1508760"/>
            <a:ext cx="4389120" cy="548640"/>
          </a:xfrm>
          <a:prstGeom prst="rect">
            <a:avLst/>
          </a:prstGeom>
          <a:noFill/>
          <a:ln/>
        </p:spPr>
        <p:txBody>
          <a:bodyPr wrap="square" lIns="0" tIns="0" rIns="0" bIns="0" rtlCol="0" anchor="ctr"/>
          <a:lstStyle/>
          <a:p>
            <a:pPr indent="0" marL="0">
              <a:buNone/>
            </a:pPr>
            <a:r>
              <a:rPr lang="en-US" sz="2200" b="1" dirty="0">
                <a:solidFill>
                  <a:schemeClr val="bg1"/>
                </a:solidFill>
              </a:rPr>
              <a:t>Caveats</a:t>
            </a:r>
            <a:endParaRPr lang="en-US" sz="2200" dirty="0"/>
          </a:p>
        </p:txBody>
      </p:sp>
      <p:sp>
        <p:nvSpPr>
          <p:cNvPr id="6" name="Text 3"/>
          <p:cNvSpPr txBox="1"/>
          <p:nvPr/>
        </p:nvSpPr>
        <p:spPr>
          <a:xfrm>
            <a:off x="548640" y="2377440"/>
            <a:ext cx="5212080" cy="36576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bg2"/>
                </a:solidFill>
              </a:rPr>
              <a:t>Same generator for train and test; real SDR recordings will be harder</a:t>
            </a:r>
            <a:endParaRPr lang="en-US" sz="1700" dirty="0"/>
          </a:p>
          <a:p>
            <a:pPr marL="342900" indent="-342900">
              <a:spcAft>
                <a:spcPts val="1400"/>
              </a:spcAft>
              <a:buSzPct val="100000"/>
              <a:buChar char="•"/>
            </a:pPr>
            <a:r>
              <a:rPr lang="en-US" sz="1700" dirty="0">
                <a:solidFill>
                  <a:schemeClr val="bg2"/>
                </a:solidFill>
              </a:rPr>
              <a:t>Every clip is scaled to power 1, so only noise-power-free detectors are fair</a:t>
            </a:r>
            <a:endParaRPr lang="en-US" sz="1700" dirty="0"/>
          </a:p>
          <a:p>
            <a:pPr marL="342900" indent="-342900">
              <a:spcAft>
                <a:spcPts val="1400"/>
              </a:spcAft>
              <a:buSzPct val="100000"/>
              <a:buChar char="•"/>
            </a:pPr>
            <a:r>
              <a:rPr lang="en-US" sz="1700" dirty="0">
                <a:solidFill>
                  <a:schemeClr val="bg2"/>
                </a:solidFill>
              </a:rPr>
              <a:t>Z mixes Es/N0 and in-band SNR: compare classes with care</a:t>
            </a:r>
            <a:endParaRPr lang="en-US" sz="1700" dirty="0"/>
          </a:p>
          <a:p>
            <a:pPr marL="342900" indent="-342900">
              <a:spcAft>
                <a:spcPts val="1400"/>
              </a:spcAft>
              <a:buSzPct val="100000"/>
              <a:buChar char="•"/>
            </a:pPr>
            <a:r>
              <a:rPr lang="en-US" sz="1700" dirty="0">
                <a:solidFill>
                  <a:schemeClr val="bg2"/>
                </a:solidFill>
              </a:rPr>
              <a:t>Settings tuned on TorchSig/RadioML were not re-tuned; RF and SVM trained on subsets</a:t>
            </a:r>
            <a:endParaRPr lang="en-US" sz="1700" dirty="0"/>
          </a:p>
        </p:txBody>
      </p:sp>
      <p:sp>
        <p:nvSpPr>
          <p:cNvPr id="7" name="Next steps circle"/>
          <p:cNvSpPr/>
          <p:nvPr/>
        </p:nvSpPr>
        <p:spPr>
          <a:xfrm>
            <a:off x="6309360" y="1463040"/>
            <a:ext cx="640080" cy="640080"/>
          </a:xfrm>
          <a:prstGeom prst="ellipse">
            <a:avLst/>
          </a:prstGeom>
          <a:solidFill>
            <a:schemeClr val="accent1"/>
          </a:solidFill>
          <a:ln/>
        </p:spPr>
      </p:sp>
      <p:pic>
        <p:nvPicPr>
          <p:cNvPr id="8" name="Next steps icon" descr="Next steps">    </p:cNvPr>
          <p:cNvPicPr>
            <a:picLocks noChangeAspect="1"/>
          </p:cNvPicPr>
          <p:nvPr/>
        </p:nvPicPr>
        <p:blipFill>
          <a:blip r:embed="rId2"/>
          <a:stretch>
            <a:fillRect/>
          </a:stretch>
        </p:blipFill>
        <p:spPr>
          <a:xfrm>
            <a:off x="6450178" y="1603858"/>
            <a:ext cx="358445" cy="358445"/>
          </a:xfrm>
          <a:prstGeom prst="rect">
            <a:avLst/>
          </a:prstGeom>
        </p:spPr>
      </p:pic>
      <p:sp>
        <p:nvSpPr>
          <p:cNvPr id="9" name="Text 5"/>
          <p:cNvSpPr txBox="1"/>
          <p:nvPr/>
        </p:nvSpPr>
        <p:spPr>
          <a:xfrm>
            <a:off x="7132320" y="1508760"/>
            <a:ext cx="4389120" cy="548640"/>
          </a:xfrm>
          <a:prstGeom prst="rect">
            <a:avLst/>
          </a:prstGeom>
          <a:noFill/>
          <a:ln/>
        </p:spPr>
        <p:txBody>
          <a:bodyPr wrap="square" lIns="0" tIns="0" rIns="0" bIns="0" rtlCol="0" anchor="ctr"/>
          <a:lstStyle/>
          <a:p>
            <a:pPr indent="0" marL="0">
              <a:buNone/>
            </a:pPr>
            <a:r>
              <a:rPr lang="en-US" sz="2200" b="1" dirty="0">
                <a:solidFill>
                  <a:schemeClr val="bg1"/>
                </a:solidFill>
              </a:rPr>
              <a:t>Next steps</a:t>
            </a:r>
            <a:endParaRPr lang="en-US" sz="2200" dirty="0"/>
          </a:p>
        </p:txBody>
      </p:sp>
      <p:sp>
        <p:nvSpPr>
          <p:cNvPr id="10" name="Text 6"/>
          <p:cNvSpPr txBox="1"/>
          <p:nvPr/>
        </p:nvSpPr>
        <p:spPr>
          <a:xfrm>
            <a:off x="6309360" y="2377440"/>
            <a:ext cx="5212080" cy="36576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bg2"/>
                </a:solidFill>
              </a:rPr>
              <a:t>CNN results in the same per-class × SNR tables, on one plot</a:t>
            </a:r>
            <a:endParaRPr lang="en-US" sz="1700" dirty="0"/>
          </a:p>
          <a:p>
            <a:pPr marL="342900" indent="-342900">
              <a:spcAft>
                <a:spcPts val="1400"/>
              </a:spcAft>
              <a:buSzPct val="100000"/>
              <a:buChar char="•"/>
            </a:pPr>
            <a:r>
              <a:rPr lang="en-US" sz="1700" dirty="0">
                <a:solidFill>
                  <a:schemeClr val="bg2"/>
                </a:solidFill>
              </a:rPr>
              <a:t>Re-tune the symbol-rate vote on Dataset 1; widen its range for FSK</a:t>
            </a:r>
            <a:endParaRPr lang="en-US" sz="1700" dirty="0"/>
          </a:p>
          <a:p>
            <a:pPr marL="342900" indent="-342900">
              <a:spcAft>
                <a:spcPts val="1400"/>
              </a:spcAft>
              <a:buSzPct val="100000"/>
              <a:buChar char="•"/>
            </a:pPr>
            <a:r>
              <a:rPr lang="en-US" sz="1700" dirty="0">
                <a:solidFill>
                  <a:schemeClr val="bg2"/>
                </a:solidFill>
              </a:rPr>
              <a:t>Add a π/4-DQPSK hypothesis to the likelihood classifier</a:t>
            </a:r>
            <a:endParaRPr lang="en-US" sz="1700" dirty="0"/>
          </a:p>
          <a:p>
            <a:pPr marL="342900" indent="-342900">
              <a:spcAft>
                <a:spcPts val="1400"/>
              </a:spcAft>
              <a:buSzPct val="100000"/>
              <a:buChar char="•"/>
            </a:pPr>
            <a:r>
              <a:rPr lang="en-US" sz="1700" dirty="0">
                <a:solidFill>
                  <a:schemeClr val="bg2"/>
                </a:solidFill>
              </a:rPr>
              <a:t>Wideband Dataset-1 scenes for the WP4 box detectors; then fading and SDR data</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the scripts we wrote</a:t>
            </a:r>
            <a:endParaRPr lang="en-US" sz="3200" dirty="0"/>
          </a:p>
        </p:txBody>
      </p:sp>
      <p:graphicFrame>
        <p:nvGraphicFramePr>
          <p:cNvPr id="18" name="script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5760720"/>
                <a:gridCol w="2651760"/>
              </a:tblGrid>
              <a:tr h="457200">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File</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What it does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Writes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ds1common.py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Finds the dataset and Cem and Ege's folders; loads clips and labels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Used by every script</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gen_offsets.py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Replays the generator to recover each clip's carrier offset; checks the file is identical</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ds1_v3_offsets.npz</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extract_ds1_features.py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Computes 19 / 24 wavelet / 8 entropy features for all 224,000 clips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features_*.npz (cache)</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run_identification.py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8 classifiers, wavelet and entropy variants, rule-based trees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results/identification/</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run_likelihood.py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ALRT / HLRT likelihood classifier on the PSK/QAM classes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identification/likelihood.json</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run_detection.py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16 detectors; thresholds from fresh noise; Pd per class and SNR</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results/detection/</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run_characterization.py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Carrier, bandwidth, SNR and symbol-rate estimators vs the labels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results/characterization/</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make_figures.py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All PNG figures and the class × SNR CSV tables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results/figures/, results/tables/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latin typeface="Calibri" pitchFamily="34" charset="0"/>
                          <a:ea typeface="Calibri" pitchFamily="34" charset="-122"/>
                          <a:cs typeface="Calibri" pitchFamily="34" charset="-120"/>
                        </a:rPr>
                        <a:t>README.md</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Run order, how each method was applied, file map</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Start here</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problems we hit and how we solved them</a:t>
            </a:r>
            <a:endParaRPr lang="en-US" sz="3200" dirty="0"/>
          </a:p>
        </p:txBody>
      </p:sp>
      <p:graphicFrame>
        <p:nvGraphicFramePr>
          <p:cNvPr id="19" name="fixes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206240"/>
                <a:gridCol w="6858000"/>
              </a:tblGrid>
              <a:tr h="56692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Problem</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What we did</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The dataset file is not in Git</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Rebuilt it from the generator's fixed seed; the checker passes and a second run is bit-identical</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The file does not store the carrier offset</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Replayed the generator's random numbers to recover the offset of every clip</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Every clip is scaled to power 1</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Used only detectors that need no noise power; thresholds from 20,000 fresh noise clips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WP6 estimators expect a 10 MHz sample rate</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Told them 10 MHz and scaled every frequency by the same factor</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Azzouz–Nandi tree was written for RadioML's 7 classes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Mapped to AM, NBFM (as FM), GMSK, BPSK, QPSK, 8PSK, 16QAM</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Random forest ran out of memory (&gt; 4.5 GB)</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Trained on 60,000 clips (SVM: 40,000, as in their own script)</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Likelihood classifier is slow (about 150 ms per clip)</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Scored on 20 test clips per class and SNR (1,280 clips)</a:t>
                      </a:r>
                      <a:endParaRPr lang="en-US" sz="14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words you will need</a:t>
            </a:r>
            <a:endParaRPr lang="en-US" sz="3200" dirty="0"/>
          </a:p>
        </p:txBody>
      </p:sp>
      <p:sp>
        <p:nvSpPr>
          <p:cNvPr id="3" name="term SNR label (Z)"/>
          <p:cNvSpPr/>
          <p:nvPr/>
        </p:nvSpPr>
        <p:spPr>
          <a:xfrm>
            <a:off x="548640" y="1371600"/>
            <a:ext cx="3474720" cy="2194560"/>
          </a:xfrm>
          <a:prstGeom prst="roundRect">
            <a:avLst>
              <a:gd name="adj" fmla="val 3333"/>
            </a:avLst>
          </a:prstGeom>
          <a:solidFill>
            <a:schemeClr val="bg2"/>
          </a:solidFill>
          <a:ln/>
        </p:spPr>
      </p:sp>
      <p:sp>
        <p:nvSpPr>
          <p:cNvPr id="4" name="Text 2"/>
          <p:cNvSpPr txBox="1"/>
          <p:nvPr/>
        </p:nvSpPr>
        <p:spPr>
          <a:xfrm>
            <a:off x="822960" y="160020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SNR label (Z)</a:t>
            </a:r>
            <a:endParaRPr lang="en-US" sz="1800" dirty="0"/>
          </a:p>
        </p:txBody>
      </p:sp>
      <p:sp>
        <p:nvSpPr>
          <p:cNvPr id="5" name="Text 3"/>
          <p:cNvSpPr txBox="1"/>
          <p:nvPr/>
        </p:nvSpPr>
        <p:spPr>
          <a:xfrm>
            <a:off x="822960" y="2103120"/>
            <a:ext cx="2926080" cy="1371600"/>
          </a:xfrm>
          <a:prstGeom prst="rect">
            <a:avLst/>
          </a:prstGeom>
          <a:noFill/>
          <a:ln/>
        </p:spPr>
        <p:txBody>
          <a:bodyPr wrap="square" lIns="0" tIns="0" rIns="0" bIns="0" rtlCol="0" anchor="t"/>
          <a:lstStyle/>
          <a:p>
            <a:pPr indent="0" marL="0">
              <a:buNone/>
            </a:pPr>
            <a:r>
              <a:rPr lang="en-US" sz="1400" dirty="0">
                <a:solidFill>
                  <a:schemeClr val="tx1"/>
                </a:solidFill>
              </a:rPr>
              <a:t>Signal-to-noise ratio in dB. Es/N0 (energy per symbol) for single-carrier digital classes; in-band SNR for AM, FM and OFDM.</a:t>
            </a:r>
            <a:endParaRPr lang="en-US" sz="1400" dirty="0"/>
          </a:p>
        </p:txBody>
      </p:sp>
      <p:sp>
        <p:nvSpPr>
          <p:cNvPr id="6" name="term Train / test split"/>
          <p:cNvSpPr/>
          <p:nvPr/>
        </p:nvSpPr>
        <p:spPr>
          <a:xfrm>
            <a:off x="4297680" y="1371600"/>
            <a:ext cx="3474720" cy="2194560"/>
          </a:xfrm>
          <a:prstGeom prst="roundRect">
            <a:avLst>
              <a:gd name="adj" fmla="val 3333"/>
            </a:avLst>
          </a:prstGeom>
          <a:solidFill>
            <a:schemeClr val="bg2"/>
          </a:solidFill>
          <a:ln/>
        </p:spPr>
      </p:sp>
      <p:sp>
        <p:nvSpPr>
          <p:cNvPr id="7" name="Text 5"/>
          <p:cNvSpPr txBox="1"/>
          <p:nvPr/>
        </p:nvSpPr>
        <p:spPr>
          <a:xfrm>
            <a:off x="4572000" y="160020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Train / test split</a:t>
            </a:r>
            <a:endParaRPr lang="en-US" sz="1800" dirty="0"/>
          </a:p>
        </p:txBody>
      </p:sp>
      <p:sp>
        <p:nvSpPr>
          <p:cNvPr id="8" name="Text 6"/>
          <p:cNvSpPr txBox="1"/>
          <p:nvPr/>
        </p:nvSpPr>
        <p:spPr>
          <a:xfrm>
            <a:off x="4572000" y="2103120"/>
            <a:ext cx="2926080" cy="1371600"/>
          </a:xfrm>
          <a:prstGeom prst="rect">
            <a:avLst/>
          </a:prstGeom>
          <a:noFill/>
          <a:ln/>
        </p:spPr>
        <p:txBody>
          <a:bodyPr wrap="square" lIns="0" tIns="0" rIns="0" bIns="0" rtlCol="0" anchor="t"/>
          <a:lstStyle/>
          <a:p>
            <a:pPr indent="0" marL="0">
              <a:buNone/>
            </a:pPr>
            <a:r>
              <a:rPr lang="en-US" sz="1400" dirty="0">
                <a:solidFill>
                  <a:schemeClr val="tx1"/>
                </a:solidFill>
              </a:rPr>
              <a:t>Models learn on 70 % of the clips and are scored on a separate 15 % they never saw.</a:t>
            </a:r>
            <a:endParaRPr lang="en-US" sz="1400" dirty="0"/>
          </a:p>
        </p:txBody>
      </p:sp>
      <p:sp>
        <p:nvSpPr>
          <p:cNvPr id="9" name="term Features"/>
          <p:cNvSpPr/>
          <p:nvPr/>
        </p:nvSpPr>
        <p:spPr>
          <a:xfrm>
            <a:off x="8046720" y="1371600"/>
            <a:ext cx="3474720" cy="2194560"/>
          </a:xfrm>
          <a:prstGeom prst="roundRect">
            <a:avLst>
              <a:gd name="adj" fmla="val 3333"/>
            </a:avLst>
          </a:prstGeom>
          <a:solidFill>
            <a:schemeClr val="bg2"/>
          </a:solidFill>
          <a:ln/>
        </p:spPr>
      </p:sp>
      <p:sp>
        <p:nvSpPr>
          <p:cNvPr id="10" name="Text 8"/>
          <p:cNvSpPr txBox="1"/>
          <p:nvPr/>
        </p:nvSpPr>
        <p:spPr>
          <a:xfrm>
            <a:off x="8321040" y="160020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Features</a:t>
            </a:r>
            <a:endParaRPr lang="en-US" sz="1800" dirty="0"/>
          </a:p>
        </p:txBody>
      </p:sp>
      <p:sp>
        <p:nvSpPr>
          <p:cNvPr id="11" name="Text 9"/>
          <p:cNvSpPr txBox="1"/>
          <p:nvPr/>
        </p:nvSpPr>
        <p:spPr>
          <a:xfrm>
            <a:off x="8321040" y="2103120"/>
            <a:ext cx="2926080" cy="1371600"/>
          </a:xfrm>
          <a:prstGeom prst="rect">
            <a:avLst/>
          </a:prstGeom>
          <a:noFill/>
          <a:ln/>
        </p:spPr>
        <p:txBody>
          <a:bodyPr wrap="square" lIns="0" tIns="0" rIns="0" bIns="0" rtlCol="0" anchor="t"/>
          <a:lstStyle/>
          <a:p>
            <a:pPr indent="0" marL="0">
              <a:buNone/>
            </a:pPr>
            <a:r>
              <a:rPr lang="en-US" sz="1400" dirty="0">
                <a:solidFill>
                  <a:schemeClr val="tx1"/>
                </a:solidFill>
              </a:rPr>
              <a:t>Numbers computed from a clip (cumulants, spectral lines, wavelet statistics) that a classifier uses instead of raw samples.</a:t>
            </a:r>
            <a:endParaRPr lang="en-US" sz="1400" dirty="0"/>
          </a:p>
        </p:txBody>
      </p:sp>
      <p:sp>
        <p:nvSpPr>
          <p:cNvPr id="12" name="term Confusion"/>
          <p:cNvSpPr/>
          <p:nvPr/>
        </p:nvSpPr>
        <p:spPr>
          <a:xfrm>
            <a:off x="548640" y="3794760"/>
            <a:ext cx="3474720" cy="2194560"/>
          </a:xfrm>
          <a:prstGeom prst="roundRect">
            <a:avLst>
              <a:gd name="adj" fmla="val 3333"/>
            </a:avLst>
          </a:prstGeom>
          <a:solidFill>
            <a:schemeClr val="bg2"/>
          </a:solidFill>
          <a:ln/>
        </p:spPr>
      </p:sp>
      <p:sp>
        <p:nvSpPr>
          <p:cNvPr id="13" name="Text 11"/>
          <p:cNvSpPr txBox="1"/>
          <p:nvPr/>
        </p:nvSpPr>
        <p:spPr>
          <a:xfrm>
            <a:off x="822960" y="402336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Confusion</a:t>
            </a:r>
            <a:endParaRPr lang="en-US" sz="1800" dirty="0"/>
          </a:p>
        </p:txBody>
      </p:sp>
      <p:sp>
        <p:nvSpPr>
          <p:cNvPr id="14" name="Text 12"/>
          <p:cNvSpPr txBox="1"/>
          <p:nvPr/>
        </p:nvSpPr>
        <p:spPr>
          <a:xfrm>
            <a:off x="822960" y="4526280"/>
            <a:ext cx="2926080" cy="1371600"/>
          </a:xfrm>
          <a:prstGeom prst="rect">
            <a:avLst/>
          </a:prstGeom>
          <a:noFill/>
          <a:ln/>
        </p:spPr>
        <p:txBody>
          <a:bodyPr wrap="square" lIns="0" tIns="0" rIns="0" bIns="0" rtlCol="0" anchor="t"/>
          <a:lstStyle/>
          <a:p>
            <a:pPr indent="0" marL="0">
              <a:buNone/>
            </a:pPr>
            <a:r>
              <a:rPr lang="en-US" sz="1400" dirty="0">
                <a:solidFill>
                  <a:schemeClr val="tx1"/>
                </a:solidFill>
              </a:rPr>
              <a:t>When class A is labelled as class B. Look-alike pairs cause most of the remaining errors.</a:t>
            </a:r>
            <a:endParaRPr lang="en-US" sz="1400" dirty="0"/>
          </a:p>
        </p:txBody>
      </p:sp>
      <p:sp>
        <p:nvSpPr>
          <p:cNvPr id="15" name="term Pd and Pfa"/>
          <p:cNvSpPr/>
          <p:nvPr/>
        </p:nvSpPr>
        <p:spPr>
          <a:xfrm>
            <a:off x="4297680" y="3794760"/>
            <a:ext cx="3474720" cy="2194560"/>
          </a:xfrm>
          <a:prstGeom prst="roundRect">
            <a:avLst>
              <a:gd name="adj" fmla="val 3333"/>
            </a:avLst>
          </a:prstGeom>
          <a:solidFill>
            <a:schemeClr val="bg2"/>
          </a:solidFill>
          <a:ln/>
        </p:spPr>
      </p:sp>
      <p:sp>
        <p:nvSpPr>
          <p:cNvPr id="16" name="Text 14"/>
          <p:cNvSpPr txBox="1"/>
          <p:nvPr/>
        </p:nvSpPr>
        <p:spPr>
          <a:xfrm>
            <a:off x="4572000" y="402336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Pd and Pfa</a:t>
            </a:r>
            <a:endParaRPr lang="en-US" sz="1800" dirty="0"/>
          </a:p>
        </p:txBody>
      </p:sp>
      <p:sp>
        <p:nvSpPr>
          <p:cNvPr id="17" name="Text 15"/>
          <p:cNvSpPr txBox="1"/>
          <p:nvPr/>
        </p:nvSpPr>
        <p:spPr>
          <a:xfrm>
            <a:off x="4572000" y="4526280"/>
            <a:ext cx="2926080" cy="1371600"/>
          </a:xfrm>
          <a:prstGeom prst="rect">
            <a:avLst/>
          </a:prstGeom>
          <a:noFill/>
          <a:ln/>
        </p:spPr>
        <p:txBody>
          <a:bodyPr wrap="square" lIns="0" tIns="0" rIns="0" bIns="0" rtlCol="0" anchor="t"/>
          <a:lstStyle/>
          <a:p>
            <a:pPr indent="0" marL="0">
              <a:buNone/>
            </a:pPr>
            <a:r>
              <a:rPr lang="en-US" sz="1400" dirty="0">
                <a:solidFill>
                  <a:schemeClr val="tx1"/>
                </a:solidFill>
              </a:rPr>
              <a:t>Probability of detection (signals found) and of false alarm (noise clips flagged). We fix Pfa at 1 %.</a:t>
            </a:r>
            <a:endParaRPr lang="en-US" sz="1400" dirty="0"/>
          </a:p>
        </p:txBody>
      </p:sp>
      <p:sp>
        <p:nvSpPr>
          <p:cNvPr id="18" name="term Likelihood (ALRT)"/>
          <p:cNvSpPr/>
          <p:nvPr/>
        </p:nvSpPr>
        <p:spPr>
          <a:xfrm>
            <a:off x="8046720" y="3794760"/>
            <a:ext cx="3474720" cy="2194560"/>
          </a:xfrm>
          <a:prstGeom prst="roundRect">
            <a:avLst>
              <a:gd name="adj" fmla="val 3333"/>
            </a:avLst>
          </a:prstGeom>
          <a:solidFill>
            <a:schemeClr val="bg2"/>
          </a:solidFill>
          <a:ln/>
        </p:spPr>
      </p:sp>
      <p:sp>
        <p:nvSpPr>
          <p:cNvPr id="19" name="Text 17"/>
          <p:cNvSpPr txBox="1"/>
          <p:nvPr/>
        </p:nvSpPr>
        <p:spPr>
          <a:xfrm>
            <a:off x="8321040" y="4023360"/>
            <a:ext cx="2926080" cy="411480"/>
          </a:xfrm>
          <a:prstGeom prst="rect">
            <a:avLst/>
          </a:prstGeom>
          <a:noFill/>
          <a:ln/>
        </p:spPr>
        <p:txBody>
          <a:bodyPr wrap="square" lIns="0" tIns="0" rIns="0" bIns="0" rtlCol="0" anchor="t"/>
          <a:lstStyle/>
          <a:p>
            <a:pPr indent="0" marL="0">
              <a:buNone/>
            </a:pPr>
            <a:r>
              <a:rPr lang="en-US" sz="1800" b="1" dirty="0">
                <a:solidFill>
                  <a:schemeClr val="accent1"/>
                </a:solidFill>
              </a:rPr>
              <a:t>Likelihood (ALRT)</a:t>
            </a:r>
            <a:endParaRPr lang="en-US" sz="1800" dirty="0"/>
          </a:p>
        </p:txBody>
      </p:sp>
      <p:sp>
        <p:nvSpPr>
          <p:cNvPr id="20" name="Text 18"/>
          <p:cNvSpPr txBox="1"/>
          <p:nvPr/>
        </p:nvSpPr>
        <p:spPr>
          <a:xfrm>
            <a:off x="8321040" y="4526280"/>
            <a:ext cx="2926080" cy="1371600"/>
          </a:xfrm>
          <a:prstGeom prst="rect">
            <a:avLst/>
          </a:prstGeom>
          <a:noFill/>
          <a:ln/>
        </p:spPr>
        <p:txBody>
          <a:bodyPr wrap="square" lIns="0" tIns="0" rIns="0" bIns="0" rtlCol="0" anchor="t"/>
          <a:lstStyle/>
          <a:p>
            <a:pPr indent="0" marL="0">
              <a:buNone/>
            </a:pPr>
            <a:r>
              <a:rPr lang="en-US" sz="1400" dirty="0">
                <a:solidFill>
                  <a:schemeClr val="tx1"/>
                </a:solidFill>
              </a:rPr>
              <a:t>Compares a clip with each known constellation; the classical best case when the symbol rate is known.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wavelets fix FSK and most of FM</a:t>
            </a:r>
            <a:endParaRPr lang="en-US" sz="3200" dirty="0"/>
          </a:p>
        </p:txBody>
      </p:sp>
      <p:graphicFrame>
        <p:nvGraphicFramePr>
          <p:cNvPr id="3" name="per class chart" descr=""/>
          <p:cNvGraphicFramePr/>
          <p:nvPr/>
        </p:nvGraphicFramePr>
        <p:xfrm>
          <a:off x="548640" y="1325880"/>
          <a:ext cx="1106424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669280"/>
            <a:ext cx="11064240" cy="548640"/>
          </a:xfrm>
          <a:prstGeom prst="rect">
            <a:avLst/>
          </a:prstGeom>
          <a:noFill/>
          <a:ln/>
        </p:spPr>
        <p:txBody>
          <a:bodyPr wrap="square" lIns="0" tIns="0" rIns="0" bIns="0" rtlCol="0" anchor="t"/>
          <a:lstStyle/>
          <a:p>
            <a:pPr indent="0" marL="0">
              <a:buNone/>
            </a:pPr>
            <a:r>
              <a:rPr lang="en-US" sz="1500" b="1" dirty="0">
                <a:solidFill>
                  <a:schemeClr val="tx2"/>
                </a:solidFill>
              </a:rPr>
              <a:t>Biggest gains: </a:t>
            </a:r>
            <a:pPr indent="0" marL="0">
              <a:buNone/>
            </a:pPr>
            <a:r>
              <a:rPr lang="en-US" sz="1500" dirty="0">
                <a:solidFill>
                  <a:schemeClr val="tx1"/>
                </a:solidFill>
              </a:rPr>
              <a:t>2FSK 75 → 99 %,  4FSK 58 → 86 %,  WBFM 48 → 84 %,  NBFM 53 → 75 %     </a:t>
            </a:r>
            <a:pPr indent="0" marL="0">
              <a:buNone/>
            </a:pPr>
            <a:r>
              <a:rPr lang="en-US" sz="1500" b="1" dirty="0">
                <a:solidFill>
                  <a:schemeClr val="tx2"/>
                </a:solidFill>
              </a:rPr>
              <a:t>Weakest: </a:t>
            </a:r>
            <a:pPr indent="0" marL="0">
              <a:buNone/>
            </a:pPr>
            <a:r>
              <a:rPr lang="en-US" sz="1500" dirty="0">
                <a:solidFill>
                  <a:schemeClr val="tx1"/>
                </a:solidFill>
              </a:rPr>
              <a:t>NBFM, PI4DQPSK, QPSK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detector ranking</a:t>
            </a:r>
            <a:endParaRPr lang="en-US" sz="3200" dirty="0"/>
          </a:p>
        </p:txBody>
      </p:sp>
      <p:graphicFrame>
        <p:nvGraphicFramePr>
          <p:cNvPr id="22" name="detector table"/>
          <p:cNvGraphicFramePr>
            <a:graphicFrameLocks noGrp="1"/>
          </p:cNvGraphicFramePr>
          <p:nvPr>
            <p:extLst>
              <p:ext uri="{D42A27DB-BD31-4B8C-83A1-F6EECF244321}">
                <p14:modId xmlns:p14="http://schemas.microsoft.com/office/powerpoint/2010/main" val="1579011935"/>
              </p:ext>
            </p:extLst>
          </p:nvPr>
        </p:nvGraphicFramePr>
        <p:xfrm>
          <a:off x="548640" y="1325880"/>
          <a:ext cx="7863840" cy="914400"/>
        </p:xfrm>
        <a:graphic>
          <a:graphicData uri="http://schemas.openxmlformats.org/drawingml/2006/table">
            <a:tbl>
              <a:tblPr/>
              <a:tblGrid>
                <a:gridCol w="3291840"/>
                <a:gridCol w="1234440"/>
                <a:gridCol w="1234440"/>
                <a:gridCol w="1188720"/>
                <a:gridCol w="914400"/>
              </a:tblGrid>
              <a:tr h="329184">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Detector</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Pd, Pfa 10⁻²</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Pd, Pfa 10⁻³</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90 % from</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ms/clip</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chemeClr val="tx2"/>
                    </a:solidFill>
                  </a:tcPr>
                </a:tc>
              </a:tr>
              <a:tr h="329184">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John sphericity (eigenvalues)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79.8 %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76.7 %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0.37</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b="1" dirty="0">
                          <a:solidFill>
                            <a:schemeClr val="tx1"/>
                          </a:solidFill>
                          <a:latin typeface="Calibri" pitchFamily="34" charset="0"/>
                          <a:ea typeface="Calibri" pitchFamily="34" charset="-122"/>
                          <a:cs typeface="Calibri" pitchFamily="34" charset="-120"/>
                        </a:rPr>
                        <a:t>CAV covariance absolute value</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79.7 %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76.7 %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b="1"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Autocorrelation (Ljung–Box)</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79.2 %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76.2 %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Max/min eigenvalue (MME)</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79.1 %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75.8 %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0.54</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Arithmetic/geometric eigenvalue mean</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79.1 %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75.9 %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0.37</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Gerschgorin radii (GRCR)</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79.0 %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75.7 %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0.13</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Spectral entropy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73.3 %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70.3 %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0.02</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Histogram entropy</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64.7 %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59.7 %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0.03</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PSD occupancy (WP4)</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64.3 %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62.5 %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4.81</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Energy, excision floor (WP4)</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59.7 %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56.9 %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6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3.49</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Cyclostationary lines</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42.4 %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37.5 %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14 dB</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0.08</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EAF1F2"/>
                    </a:solidFill>
                  </a:tcPr>
                </a:tc>
              </a:tr>
              <a:tr h="329184">
                <a:tc>
                  <a:txBody>
                    <a:bodyPr/>
                    <a:lstStyle/>
                    <a:p>
                      <a:pPr algn="l" indent="0" marL="0">
                        <a:buNone/>
                      </a:pPr>
                      <a:r>
                        <a:rPr lang="en-US" sz="1300" dirty="0">
                          <a:solidFill>
                            <a:schemeClr val="tx1"/>
                          </a:solidFill>
                          <a:latin typeface="Calibri" pitchFamily="34" charset="0"/>
                          <a:ea typeface="Calibri" pitchFamily="34" charset="-122"/>
                          <a:cs typeface="Calibri" pitchFamily="34" charset="-120"/>
                        </a:rPr>
                        <a:t>Spectral coherence (FAM)</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30.2 %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26.5 %</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never</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latin typeface="Calibri" pitchFamily="34" charset="0"/>
                          <a:ea typeface="Calibri" pitchFamily="34" charset="-122"/>
                          <a:cs typeface="Calibri" pitchFamily="34" charset="-120"/>
                        </a:rPr>
                        <a:t>15.35</a:t>
                      </a:r>
                      <a:endParaRPr lang="en-US" sz="1300" dirty="0">
                        <a:latin typeface="Calibri" charset="0"/>
                        <a:ea typeface="Calibri" charset="0"/>
                        <a:cs typeface="Calibri" charset="0"/>
                      </a:endParaRPr>
                    </a:p>
                  </a:txBody>
                  <a:tcPr marL="91440" marR="91440" marT="45720" marB="45720" anchor="ctr">
                    <a:lnL w="6350" cap="flat" cmpd="sng" algn="ctr">
                      <a:solidFill>
                        <a:srgbClr val="D9E2E4"/>
                      </a:solidFill>
                      <a:prstDash val="solid"/>
                      <a:round/>
                      <a:headEnd type="none" w="med" len="med"/>
                      <a:tailEnd type="none" w="med" len="med"/>
                    </a:lnL>
                    <a:lnR w="6350" cap="flat" cmpd="sng" algn="ctr">
                      <a:solidFill>
                        <a:srgbClr val="D9E2E4"/>
                      </a:solidFill>
                      <a:prstDash val="solid"/>
                      <a:round/>
                      <a:headEnd type="none" w="med" len="med"/>
                      <a:tailEnd type="none" w="med" len="med"/>
                    </a:lnR>
                    <a:lnT w="6350" cap="flat" cmpd="sng" algn="ctr">
                      <a:solidFill>
                        <a:srgbClr val="D9E2E4"/>
                      </a:solidFill>
                      <a:prstDash val="solid"/>
                      <a:round/>
                      <a:headEnd type="none" w="med" len="med"/>
                      <a:tailEnd type="none" w="med" len="med"/>
                    </a:lnT>
                    <a:lnB w="6350" cap="flat" cmpd="sng" algn="ctr">
                      <a:solidFill>
                        <a:srgbClr val="D9E2E4"/>
                      </a:solidFill>
                      <a:prstDash val="solid"/>
                      <a:round/>
                      <a:headEnd type="none" w="med" len="med"/>
                      <a:tailEnd type="none" w="med" len="med"/>
                    </a:lnB>
                    <a:solidFill>
                      <a:srgbClr val="FFFFFF"/>
                    </a:solidFill>
                  </a:tcPr>
                </a:tc>
              </a:tr>
            </a:tbl>
          </a:graphicData>
        </a:graphic>
      </p:graphicFrame>
      <p:sp>
        <p:nvSpPr>
          <p:cNvPr id="4" name="hardest classes"/>
          <p:cNvSpPr/>
          <p:nvPr/>
        </p:nvSpPr>
        <p:spPr>
          <a:xfrm>
            <a:off x="8778240" y="1325880"/>
            <a:ext cx="2834640" cy="4526280"/>
          </a:xfrm>
          <a:prstGeom prst="roundRect">
            <a:avLst>
              <a:gd name="adj" fmla="val 2581"/>
            </a:avLst>
          </a:prstGeom>
          <a:solidFill>
            <a:schemeClr val="bg2"/>
          </a:solidFill>
          <a:ln/>
        </p:spPr>
      </p:sp>
      <p:sp>
        <p:nvSpPr>
          <p:cNvPr id="5" name="Text 2"/>
          <p:cNvSpPr txBox="1"/>
          <p:nvPr/>
        </p:nvSpPr>
        <p:spPr>
          <a:xfrm>
            <a:off x="9052560" y="1554480"/>
            <a:ext cx="2377440" cy="411480"/>
          </a:xfrm>
          <a:prstGeom prst="rect">
            <a:avLst/>
          </a:prstGeom>
          <a:noFill/>
          <a:ln/>
        </p:spPr>
        <p:txBody>
          <a:bodyPr wrap="square" lIns="0" tIns="0" rIns="0" bIns="0" rtlCol="0" anchor="t"/>
          <a:lstStyle/>
          <a:p>
            <a:pPr indent="0" marL="0">
              <a:buNone/>
            </a:pPr>
            <a:r>
              <a:rPr lang="en-US" sz="1700" b="1" dirty="0">
                <a:solidFill>
                  <a:schemeClr val="tx2"/>
                </a:solidFill>
              </a:rPr>
              <a:t>Per class (John)</a:t>
            </a:r>
            <a:endParaRPr lang="en-US" sz="1700" dirty="0"/>
          </a:p>
        </p:txBody>
      </p:sp>
      <p:sp>
        <p:nvSpPr>
          <p:cNvPr id="6" name="Text 3"/>
          <p:cNvSpPr txBox="1"/>
          <p:nvPr/>
        </p:nvSpPr>
        <p:spPr>
          <a:xfrm>
            <a:off x="9052560" y="2057400"/>
            <a:ext cx="2377440" cy="3657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AM: from −4 dB (the carrier helps)</a:t>
            </a:r>
            <a:endParaRPr lang="en-US" sz="1400" dirty="0"/>
          </a:p>
          <a:p>
            <a:pPr marL="342900" indent="-342900">
              <a:spcAft>
                <a:spcPts val="600"/>
              </a:spcAft>
              <a:buSzPct val="100000"/>
              <a:buChar char="•"/>
            </a:pPr>
            <a:r>
              <a:rPr lang="en-US" sz="1400" dirty="0">
                <a:solidFill>
                  <a:schemeClr val="tx1"/>
                </a:solidFill>
              </a:rPr>
              <a:t>Most classes: from −2 dB</a:t>
            </a:r>
            <a:endParaRPr lang="en-US" sz="1400" dirty="0"/>
          </a:p>
          <a:p>
            <a:pPr marL="342900" indent="-342900">
              <a:spcAft>
                <a:spcPts val="600"/>
              </a:spcAft>
              <a:buSzPct val="100000"/>
              <a:buChar char="•"/>
            </a:pPr>
            <a:r>
              <a:rPr lang="en-US" sz="1400" dirty="0">
                <a:solidFill>
                  <a:schemeClr val="tx1"/>
                </a:solidFill>
              </a:rPr>
              <a:t>WBFM, 8PSK: from 0 dB</a:t>
            </a:r>
            <a:endParaRPr lang="en-US" sz="1400" dirty="0"/>
          </a:p>
          <a:p>
            <a:pPr marL="342900" indent="-342900">
              <a:spcAft>
                <a:spcPts val="600"/>
              </a:spcAft>
              <a:buSzPct val="100000"/>
              <a:buChar char="•"/>
            </a:pPr>
            <a:r>
              <a:rPr lang="en-US" sz="1400" dirty="0">
                <a:solidFill>
                  <a:schemeClr val="tx1"/>
                </a:solidFill>
              </a:rPr>
              <a:t>2FSK, 4FSK: from +2 dB; their Es/N0 label sits 2–4 dB above their in-band SNR</a:t>
            </a:r>
            <a:endParaRPr lang="en-US" sz="1400" dirty="0"/>
          </a:p>
        </p:txBody>
      </p:sp>
      <p:sp>
        <p:nvSpPr>
          <p:cNvPr id="7" name="Text 4"/>
          <p:cNvSpPr txBox="1"/>
          <p:nvPr/>
        </p:nvSpPr>
        <p:spPr>
          <a:xfrm>
            <a:off x="548640" y="5943600"/>
            <a:ext cx="7863840" cy="320040"/>
          </a:xfrm>
          <a:prstGeom prst="rect">
            <a:avLst/>
          </a:prstGeom>
          <a:noFill/>
          <a:ln/>
        </p:spPr>
        <p:txBody>
          <a:bodyPr wrap="square" lIns="0" tIns="0" rIns="0" bIns="0" rtlCol="0" anchor="t"/>
          <a:lstStyle/>
          <a:p>
            <a:pPr indent="0" marL="0">
              <a:buNone/>
            </a:pPr>
            <a:r>
              <a:rPr lang="en-US" sz="1200" i="1" dirty="0">
                <a:solidFill>
                  <a:schemeClr val="accent3"/>
                </a:solidFill>
              </a:rPr>
              <a:t>The other covariance indices (GID, PRIDe, TID, AID) score 78.5–79.0 %; full table in results/tables/det_summary.csv.</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questions to expect</a:t>
            </a:r>
            <a:endParaRPr lang="en-US" sz="3200" dirty="0"/>
          </a:p>
        </p:txBody>
      </p:sp>
      <p:sp>
        <p:nvSpPr>
          <p:cNvPr id="3" name="qa 1"/>
          <p:cNvSpPr/>
          <p:nvPr/>
        </p:nvSpPr>
        <p:spPr>
          <a:xfrm>
            <a:off x="548640" y="1325880"/>
            <a:ext cx="5440680" cy="1417320"/>
          </a:xfrm>
          <a:prstGeom prst="roundRect">
            <a:avLst>
              <a:gd name="adj" fmla="val 5161"/>
            </a:avLst>
          </a:prstGeom>
          <a:solidFill>
            <a:schemeClr val="bg2"/>
          </a:solidFill>
          <a:ln/>
        </p:spPr>
      </p:sp>
      <p:sp>
        <p:nvSpPr>
          <p:cNvPr id="4" name="Text 2"/>
          <p:cNvSpPr txBox="1"/>
          <p:nvPr/>
        </p:nvSpPr>
        <p:spPr>
          <a:xfrm>
            <a:off x="822960" y="14904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Why are the numbers lower than in Cem and Ege's report?</a:t>
            </a:r>
            <a:endParaRPr lang="en-US" sz="1500" dirty="0"/>
          </a:p>
        </p:txBody>
      </p:sp>
      <p:sp>
        <p:nvSpPr>
          <p:cNvPr id="5" name="Text 3"/>
          <p:cNvSpPr txBox="1"/>
          <p:nvPr/>
        </p:nvSpPr>
        <p:spPr>
          <a:xfrm>
            <a:off x="822960" y="1920240"/>
            <a:ext cx="4892040" cy="731520"/>
          </a:xfrm>
          <a:prstGeom prst="rect">
            <a:avLst/>
          </a:prstGeom>
          <a:noFill/>
          <a:ln/>
        </p:spPr>
        <p:txBody>
          <a:bodyPr wrap="square" lIns="0" tIns="0" rIns="0" bIns="0" rtlCol="0" anchor="t"/>
          <a:lstStyle/>
          <a:p>
            <a:pPr indent="0" marL="0">
              <a:buNone/>
            </a:pPr>
            <a:r>
              <a:rPr lang="en-US" sz="1400" dirty="0">
                <a:solidFill>
                  <a:schemeClr val="tx1"/>
                </a:solidFill>
              </a:rPr>
              <a:t>Our classes include look-alike pairs, clips are short, and the signal width no longer gives the class away.</a:t>
            </a:r>
            <a:endParaRPr lang="en-US" sz="1400" dirty="0"/>
          </a:p>
        </p:txBody>
      </p:sp>
      <p:sp>
        <p:nvSpPr>
          <p:cNvPr id="6" name="qa 2"/>
          <p:cNvSpPr/>
          <p:nvPr/>
        </p:nvSpPr>
        <p:spPr>
          <a:xfrm>
            <a:off x="6172200" y="1325880"/>
            <a:ext cx="5440680" cy="1417320"/>
          </a:xfrm>
          <a:prstGeom prst="roundRect">
            <a:avLst>
              <a:gd name="adj" fmla="val 5161"/>
            </a:avLst>
          </a:prstGeom>
          <a:solidFill>
            <a:schemeClr val="bg2"/>
          </a:solidFill>
          <a:ln/>
        </p:spPr>
      </p:sp>
      <p:sp>
        <p:nvSpPr>
          <p:cNvPr id="7" name="Text 5"/>
          <p:cNvSpPr txBox="1"/>
          <p:nvPr/>
        </p:nvSpPr>
        <p:spPr>
          <a:xfrm>
            <a:off x="6446520" y="14904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Did you change Cem and Ege's code?</a:t>
            </a:r>
            <a:endParaRPr lang="en-US" sz="1500" dirty="0"/>
          </a:p>
        </p:txBody>
      </p:sp>
      <p:sp>
        <p:nvSpPr>
          <p:cNvPr id="8" name="Text 6"/>
          <p:cNvSpPr txBox="1"/>
          <p:nvPr/>
        </p:nvSpPr>
        <p:spPr>
          <a:xfrm>
            <a:off x="6446520" y="1920240"/>
            <a:ext cx="4892040" cy="731520"/>
          </a:xfrm>
          <a:prstGeom prst="rect">
            <a:avLst/>
          </a:prstGeom>
          <a:noFill/>
          <a:ln/>
        </p:spPr>
        <p:txBody>
          <a:bodyPr wrap="square" lIns="0" tIns="0" rIns="0" bIns="0" rtlCol="0" anchor="t"/>
          <a:lstStyle/>
          <a:p>
            <a:pPr indent="0" marL="0">
              <a:buNone/>
            </a:pPr>
            <a:r>
              <a:rPr lang="en-US" sz="1400" dirty="0">
                <a:solidFill>
                  <a:schemeClr val="tx1"/>
                </a:solidFill>
              </a:rPr>
              <a:t>No. Our scripts import it; all new code is in Cem-Ege/dataset1_eval.</a:t>
            </a:r>
            <a:endParaRPr lang="en-US" sz="1400" dirty="0"/>
          </a:p>
        </p:txBody>
      </p:sp>
      <p:sp>
        <p:nvSpPr>
          <p:cNvPr id="9" name="qa 3"/>
          <p:cNvSpPr/>
          <p:nvPr/>
        </p:nvSpPr>
        <p:spPr>
          <a:xfrm>
            <a:off x="548640" y="2926080"/>
            <a:ext cx="5440680" cy="1417320"/>
          </a:xfrm>
          <a:prstGeom prst="roundRect">
            <a:avLst>
              <a:gd name="adj" fmla="val 5161"/>
            </a:avLst>
          </a:prstGeom>
          <a:solidFill>
            <a:schemeClr val="bg2"/>
          </a:solidFill>
          <a:ln/>
        </p:spPr>
      </p:sp>
      <p:sp>
        <p:nvSpPr>
          <p:cNvPr id="10" name="Text 8"/>
          <p:cNvSpPr txBox="1"/>
          <p:nvPr/>
        </p:nvSpPr>
        <p:spPr>
          <a:xfrm>
            <a:off x="822960" y="30906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Is the test fair?</a:t>
            </a:r>
            <a:endParaRPr lang="en-US" sz="1500" dirty="0"/>
          </a:p>
        </p:txBody>
      </p:sp>
      <p:sp>
        <p:nvSpPr>
          <p:cNvPr id="11" name="Text 9"/>
          <p:cNvSpPr txBox="1"/>
          <p:nvPr/>
        </p:nvSpPr>
        <p:spPr>
          <a:xfrm>
            <a:off x="822960" y="3520440"/>
            <a:ext cx="4892040" cy="731520"/>
          </a:xfrm>
          <a:prstGeom prst="rect">
            <a:avLst/>
          </a:prstGeom>
          <a:noFill/>
          <a:ln/>
        </p:spPr>
        <p:txBody>
          <a:bodyPr wrap="square" lIns="0" tIns="0" rIns="0" bIns="0" rtlCol="0" anchor="t"/>
          <a:lstStyle/>
          <a:p>
            <a:pPr indent="0" marL="0">
              <a:buNone/>
            </a:pPr>
            <a:r>
              <a:rPr lang="en-US" sz="1400" dirty="0">
                <a:solidFill>
                  <a:schemeClr val="tx1"/>
                </a:solidFill>
              </a:rPr>
              <a:t>Models and thresholds use only the train split or fresh noise; the test split is used once, for scoring.</a:t>
            </a:r>
            <a:endParaRPr lang="en-US" sz="1400" dirty="0"/>
          </a:p>
        </p:txBody>
      </p:sp>
      <p:sp>
        <p:nvSpPr>
          <p:cNvPr id="12" name="qa 4"/>
          <p:cNvSpPr/>
          <p:nvPr/>
        </p:nvSpPr>
        <p:spPr>
          <a:xfrm>
            <a:off x="6172200" y="2926080"/>
            <a:ext cx="5440680" cy="1417320"/>
          </a:xfrm>
          <a:prstGeom prst="roundRect">
            <a:avLst>
              <a:gd name="adj" fmla="val 5161"/>
            </a:avLst>
          </a:prstGeom>
          <a:solidFill>
            <a:schemeClr val="bg2"/>
          </a:solidFill>
          <a:ln/>
        </p:spPr>
      </p:sp>
      <p:sp>
        <p:nvSpPr>
          <p:cNvPr id="13" name="Text 11"/>
          <p:cNvSpPr txBox="1"/>
          <p:nvPr/>
        </p:nvSpPr>
        <p:spPr>
          <a:xfrm>
            <a:off x="6446520" y="30906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Why did energy detection lose?</a:t>
            </a:r>
            <a:endParaRPr lang="en-US" sz="1500" dirty="0"/>
          </a:p>
        </p:txBody>
      </p:sp>
      <p:sp>
        <p:nvSpPr>
          <p:cNvPr id="14" name="Text 12"/>
          <p:cNvSpPr txBox="1"/>
          <p:nvPr/>
        </p:nvSpPr>
        <p:spPr>
          <a:xfrm>
            <a:off x="6446520" y="3520440"/>
            <a:ext cx="4892040" cy="731520"/>
          </a:xfrm>
          <a:prstGeom prst="rect">
            <a:avLst/>
          </a:prstGeom>
          <a:noFill/>
          <a:ln/>
        </p:spPr>
        <p:txBody>
          <a:bodyPr wrap="square" lIns="0" tIns="0" rIns="0" bIns="0" rtlCol="0" anchor="t"/>
          <a:lstStyle/>
          <a:p>
            <a:pPr indent="0" marL="0">
              <a:buNone/>
            </a:pPr>
            <a:r>
              <a:rPr lang="en-US" sz="1400" dirty="0">
                <a:solidFill>
                  <a:schemeClr val="tx1"/>
                </a:solidFill>
              </a:rPr>
              <a:t>Clips are scaled to power 1 and signals are narrow; covariance tests use that, energy needs a noise level.</a:t>
            </a:r>
            <a:endParaRPr lang="en-US" sz="1400" dirty="0"/>
          </a:p>
        </p:txBody>
      </p:sp>
      <p:sp>
        <p:nvSpPr>
          <p:cNvPr id="15" name="qa 5"/>
          <p:cNvSpPr/>
          <p:nvPr/>
        </p:nvSpPr>
        <p:spPr>
          <a:xfrm>
            <a:off x="548640" y="4526280"/>
            <a:ext cx="5440680" cy="1417320"/>
          </a:xfrm>
          <a:prstGeom prst="roundRect">
            <a:avLst>
              <a:gd name="adj" fmla="val 5161"/>
            </a:avLst>
          </a:prstGeom>
          <a:solidFill>
            <a:schemeClr val="bg2"/>
          </a:solidFill>
          <a:ln/>
        </p:spPr>
      </p:sp>
      <p:sp>
        <p:nvSpPr>
          <p:cNvPr id="16" name="Text 14"/>
          <p:cNvSpPr txBox="1"/>
          <p:nvPr/>
        </p:nvSpPr>
        <p:spPr>
          <a:xfrm>
            <a:off x="822960" y="46908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Why is the symbol rate so poor?</a:t>
            </a:r>
            <a:endParaRPr lang="en-US" sz="1500" dirty="0"/>
          </a:p>
        </p:txBody>
      </p:sp>
      <p:sp>
        <p:nvSpPr>
          <p:cNvPr id="17" name="Text 15"/>
          <p:cNvSpPr txBox="1"/>
          <p:nvPr/>
        </p:nvSpPr>
        <p:spPr>
          <a:xfrm>
            <a:off x="822960" y="5120640"/>
            <a:ext cx="4892040" cy="731520"/>
          </a:xfrm>
          <a:prstGeom prst="rect">
            <a:avLst/>
          </a:prstGeom>
          <a:noFill/>
          <a:ln/>
        </p:spPr>
        <p:txBody>
          <a:bodyPr wrap="square" lIns="0" tIns="0" rIns="0" bIns="0" rtlCol="0" anchor="t"/>
          <a:lstStyle/>
          <a:p>
            <a:pPr indent="0" marL="0">
              <a:buNone/>
            </a:pPr>
            <a:r>
              <a:rPr lang="en-US" sz="1400" dirty="0">
                <a:solidFill>
                  <a:schemeClr val="tx1"/>
                </a:solidFill>
              </a:rPr>
              <a:t>Short clips, low per-sample SNR, settings tuned on TorchSig, and some FSK rates out of range.</a:t>
            </a:r>
            <a:endParaRPr lang="en-US" sz="1400" dirty="0"/>
          </a:p>
        </p:txBody>
      </p:sp>
      <p:sp>
        <p:nvSpPr>
          <p:cNvPr id="18" name="qa 6"/>
          <p:cNvSpPr/>
          <p:nvPr/>
        </p:nvSpPr>
        <p:spPr>
          <a:xfrm>
            <a:off x="6172200" y="4526280"/>
            <a:ext cx="5440680" cy="1417320"/>
          </a:xfrm>
          <a:prstGeom prst="roundRect">
            <a:avLst>
              <a:gd name="adj" fmla="val 5161"/>
            </a:avLst>
          </a:prstGeom>
          <a:solidFill>
            <a:schemeClr val="bg2"/>
          </a:solidFill>
          <a:ln/>
        </p:spPr>
      </p:sp>
      <p:sp>
        <p:nvSpPr>
          <p:cNvPr id="19" name="Text 17"/>
          <p:cNvSpPr txBox="1"/>
          <p:nvPr/>
        </p:nvSpPr>
        <p:spPr>
          <a:xfrm>
            <a:off x="6446520" y="4690872"/>
            <a:ext cx="4892040" cy="411480"/>
          </a:xfrm>
          <a:prstGeom prst="rect">
            <a:avLst/>
          </a:prstGeom>
          <a:noFill/>
          <a:ln/>
        </p:spPr>
        <p:txBody>
          <a:bodyPr wrap="square" lIns="0" tIns="0" rIns="0" bIns="0" rtlCol="0" anchor="t"/>
          <a:lstStyle/>
          <a:p>
            <a:pPr indent="0" marL="0">
              <a:buNone/>
            </a:pPr>
            <a:r>
              <a:rPr lang="en-US" sz="1500" b="1" dirty="0">
                <a:solidFill>
                  <a:schemeClr val="accent1"/>
                </a:solidFill>
              </a:rPr>
              <a:t>What must our CNN beat?</a:t>
            </a:r>
            <a:endParaRPr lang="en-US" sz="1500" dirty="0"/>
          </a:p>
        </p:txBody>
      </p:sp>
      <p:sp>
        <p:nvSpPr>
          <p:cNvPr id="20" name="Text 18"/>
          <p:cNvSpPr txBox="1"/>
          <p:nvPr/>
        </p:nvSpPr>
        <p:spPr>
          <a:xfrm>
            <a:off x="6446520" y="5120640"/>
            <a:ext cx="4892040" cy="731520"/>
          </a:xfrm>
          <a:prstGeom prst="rect">
            <a:avLst/>
          </a:prstGeom>
          <a:noFill/>
          <a:ln/>
        </p:spPr>
        <p:txBody>
          <a:bodyPr wrap="square" lIns="0" tIns="0" rIns="0" bIns="0" rtlCol="0" anchor="t"/>
          <a:lstStyle/>
          <a:p>
            <a:pPr indent="0" marL="0">
              <a:buNone/>
            </a:pPr>
            <a:r>
              <a:rPr lang="en-US" sz="1400" dirty="0">
                <a:solidFill>
                  <a:schemeClr val="tx1"/>
                </a:solidFill>
              </a:rPr>
              <a:t>90.2 % at SNR ≥ 10 dB and 85 % from 12 dB; Pd 90 % from 0 dB for detection.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Backup: where to find everything</a:t>
            </a:r>
            <a:endParaRPr lang="en-US" sz="3200" dirty="0"/>
          </a:p>
        </p:txBody>
      </p:sp>
      <p:sp>
        <p:nvSpPr>
          <p:cNvPr id="3" name="repo map"/>
          <p:cNvSpPr/>
          <p:nvPr/>
        </p:nvSpPr>
        <p:spPr>
          <a:xfrm>
            <a:off x="548640" y="1325880"/>
            <a:ext cx="5760720" cy="4800600"/>
          </a:xfrm>
          <a:prstGeom prst="roundRect">
            <a:avLst>
              <a:gd name="adj" fmla="val 1524"/>
            </a:avLst>
          </a:prstGeom>
          <a:solidFill>
            <a:schemeClr val="bg2"/>
          </a:solidFill>
          <a:ln/>
        </p:spPr>
      </p:sp>
      <p:sp>
        <p:nvSpPr>
          <p:cNvPr id="4" name="Text 2"/>
          <p:cNvSpPr txBox="1"/>
          <p:nvPr/>
        </p:nvSpPr>
        <p:spPr>
          <a:xfrm>
            <a:off x="822960" y="1508760"/>
            <a:ext cx="5212080" cy="411480"/>
          </a:xfrm>
          <a:prstGeom prst="rect">
            <a:avLst/>
          </a:prstGeom>
          <a:noFill/>
          <a:ln/>
        </p:spPr>
        <p:txBody>
          <a:bodyPr wrap="square" lIns="0" tIns="0" rIns="0" bIns="0" rtlCol="0" anchor="t"/>
          <a:lstStyle/>
          <a:p>
            <a:pPr indent="0" marL="0">
              <a:buNone/>
            </a:pPr>
            <a:r>
              <a:rPr lang="en-US" sz="1800" b="1" dirty="0">
                <a:solidFill>
                  <a:schemeClr val="tx2"/>
                </a:solidFill>
              </a:rPr>
              <a:t>In the repo</a:t>
            </a:r>
            <a:endParaRPr lang="en-US" sz="1800" dirty="0"/>
          </a:p>
        </p:txBody>
      </p:sp>
      <p:sp>
        <p:nvSpPr>
          <p:cNvPr id="5" name="Text 3"/>
          <p:cNvSpPr txBox="1"/>
          <p:nvPr/>
        </p:nvSpPr>
        <p:spPr>
          <a:xfrm>
            <a:off x="822960" y="2011680"/>
            <a:ext cx="5303520" cy="3931920"/>
          </a:xfrm>
          <a:prstGeom prst="rect">
            <a:avLst/>
          </a:prstGeom>
          <a:noFill/>
          <a:ln/>
        </p:spPr>
        <p:txBody>
          <a:bodyPr wrap="square" lIns="0" tIns="0" rIns="0" bIns="0" rtlCol="0" anchor="t"/>
          <a:lstStyle/>
          <a:p>
            <a:pPr indent="0" marL="0">
              <a:buNone/>
            </a:pPr>
            <a:r>
              <a:rPr lang="en-US" sz="1300" dirty="0">
                <a:solidFill>
                  <a:schemeClr val="tx1"/>
                </a:solidFill>
                <a:latin typeface="Courier New" pitchFamily="34" charset="0"/>
                <a:ea typeface="Courier New" pitchFamily="34" charset="-122"/>
                <a:cs typeface="Courier New" pitchFamily="34" charset="-120"/>
              </a:rPr>
              <a:t>EE493-TUBITAK/</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synthetic/make_synth_v3.py  -&gt; ds1_v3.h5</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Cem-Ege/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classical_amc/, wp4_detection/, ...</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Cem and Ege's code (unchanged)</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dataset1_eval/          NEW: this work</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README.md             start here</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9 Python scripts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results/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identification/, detection/,</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characterization/   JSON metrics</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tables/             CSV per class x SNR</a:t>
            </a:r>
            <a:endParaRPr lang="en-US" sz="1300" dirty="0"/>
          </a:p>
          <a:p>
            <a:pPr indent="0" marL="0">
              <a:buNone/>
            </a:pPr>
            <a:r>
              <a:rPr lang="en-US" sz="1300" dirty="0">
                <a:solidFill>
                  <a:schemeClr val="tx1"/>
                </a:solidFill>
                <a:latin typeface="Courier New" pitchFamily="34" charset="0"/>
                <a:ea typeface="Courier New" pitchFamily="34" charset="-122"/>
                <a:cs typeface="Courier New" pitchFamily="34" charset="-120"/>
              </a:rPr>
              <a:t>        figures/            PNG charts</a:t>
            </a:r>
            <a:endParaRPr lang="en-US" sz="1300" dirty="0"/>
          </a:p>
        </p:txBody>
      </p:sp>
      <p:sp>
        <p:nvSpPr>
          <p:cNvPr id="6" name="rerun"/>
          <p:cNvSpPr/>
          <p:nvPr/>
        </p:nvSpPr>
        <p:spPr>
          <a:xfrm>
            <a:off x="6583680" y="1325880"/>
            <a:ext cx="5029200" cy="4800600"/>
          </a:xfrm>
          <a:prstGeom prst="roundRect">
            <a:avLst>
              <a:gd name="adj" fmla="val 1524"/>
            </a:avLst>
          </a:prstGeom>
          <a:solidFill>
            <a:schemeClr val="bg2"/>
          </a:solidFill>
          <a:ln/>
        </p:spPr>
      </p:sp>
      <p:sp>
        <p:nvSpPr>
          <p:cNvPr id="7" name="Text 5"/>
          <p:cNvSpPr txBox="1"/>
          <p:nvPr/>
        </p:nvSpPr>
        <p:spPr>
          <a:xfrm>
            <a:off x="6858000" y="1508760"/>
            <a:ext cx="4480560" cy="411480"/>
          </a:xfrm>
          <a:prstGeom prst="rect">
            <a:avLst/>
          </a:prstGeom>
          <a:noFill/>
          <a:ln/>
        </p:spPr>
        <p:txBody>
          <a:bodyPr wrap="square" lIns="0" tIns="0" rIns="0" bIns="0" rtlCol="0" anchor="t"/>
          <a:lstStyle/>
          <a:p>
            <a:pPr indent="0" marL="0">
              <a:buNone/>
            </a:pPr>
            <a:r>
              <a:rPr lang="en-US" sz="1800" b="1" dirty="0">
                <a:solidFill>
                  <a:schemeClr val="tx2"/>
                </a:solidFill>
              </a:rPr>
              <a:t>To rerun (about 1.5 hours)</a:t>
            </a:r>
            <a:endParaRPr lang="en-US" sz="1800" dirty="0"/>
          </a:p>
        </p:txBody>
      </p:sp>
      <p:sp>
        <p:nvSpPr>
          <p:cNvPr id="8" name="Text 6"/>
          <p:cNvSpPr txBox="1"/>
          <p:nvPr/>
        </p:nvSpPr>
        <p:spPr>
          <a:xfrm>
            <a:off x="6858000" y="2011680"/>
            <a:ext cx="4663440" cy="3931920"/>
          </a:xfrm>
          <a:prstGeom prst="rect">
            <a:avLst/>
          </a:prstGeom>
          <a:noFill/>
          <a:ln/>
        </p:spPr>
        <p:txBody>
          <a:bodyPr wrap="square" lIns="0" tIns="0" rIns="0" bIns="0" rtlCol="0" anchor="t"/>
          <a:lstStyle/>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cd synthetic</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make_synth_v3.py --per-snr 1000 --out ds1_v3.h5</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cd ../Cem-Ege/dataset1_eval</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gen_offsets.py</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extract_ds1_features.py 19   (then hist, wav)</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run_identification.py classifiers</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run_identification.py extended</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run_detection.py</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run_characterization.py wp6   (then sr)</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run_likelihood.py</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run_identification.py rules</a:t>
            </a:r>
            <a:endParaRPr lang="en-US" sz="1100" dirty="0"/>
          </a:p>
          <a:p>
            <a:pPr indent="0" marL="0">
              <a:spcAft>
                <a:spcPts val="400"/>
              </a:spcAft>
              <a:buNone/>
            </a:pPr>
            <a:r>
              <a:rPr lang="en-US" sz="1100" dirty="0">
                <a:solidFill>
                  <a:schemeClr val="tx1"/>
                </a:solidFill>
                <a:latin typeface="Courier New" pitchFamily="34" charset="0"/>
                <a:ea typeface="Courier New" pitchFamily="34" charset="-122"/>
                <a:cs typeface="Courier New" pitchFamily="34" charset="-120"/>
              </a:rPr>
              <a:t>python make_figures.py</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Spectrum Petrol">
  <a:themeElements>
    <a:clrScheme name="Spectrum Petrol">
      <a:dk1>
        <a:srgbClr val="1B1F24"/>
      </a:dk1>
      <a:lt1>
        <a:srgbClr val="FFFFFF"/>
      </a:lt1>
      <a:dk2>
        <a:srgbClr val="0B3C49"/>
      </a:dk2>
      <a:lt2>
        <a:srgbClr val="EAF1F2"/>
      </a:lt2>
      <a:accent1>
        <a:srgbClr val="0E7C86"/>
      </a:accent1>
      <a:accent2>
        <a:srgbClr val="F2A541"/>
      </a:accent2>
      <a:accent3>
        <a:srgbClr val="8A97A3"/>
      </a:accent3>
      <a:accent4>
        <a:srgbClr val="C8553D"/>
      </a:accent4>
      <a:accent5>
        <a:srgbClr val="3D5A80"/>
      </a:accent5>
      <a:accent6>
        <a:srgbClr val="6A994E"/>
      </a:accent6>
      <a:hlink>
        <a:srgbClr val="0E7C86"/>
      </a:hlink>
      <a:folHlink>
        <a:srgbClr val="3D5A80"/>
      </a:folHlink>
    </a:clrScheme>
    <a:fontScheme name="Spectrum Pe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Classical baseline on Dataset 1 v3: what we built and the results</dc:title>
  <dc:subject>EEE 493/494 V/UHF signal AI</dc:subject>
  <dc:creator>Baturalp</dc:creator>
  <cp:lastModifiedBy>Baturalp</cp:lastModifiedBy>
  <cp:revision>1</cp:revision>
  <dcterms:created xsi:type="dcterms:W3CDTF">2026-10-26T01:23:48Z</dcterms:created>
  <dcterms:modified xsi:type="dcterms:W3CDTF">2026-10-26T01:23:48Z</dcterms:modified>
</cp:coreProperties>
</file>